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8"/>
  </p:notesMasterIdLst>
  <p:sldIdLst>
    <p:sldId id="256" r:id="rId2"/>
    <p:sldId id="258" r:id="rId3"/>
    <p:sldId id="276" r:id="rId4"/>
    <p:sldId id="259" r:id="rId5"/>
    <p:sldId id="262" r:id="rId6"/>
    <p:sldId id="307" r:id="rId7"/>
    <p:sldId id="261" r:id="rId8"/>
    <p:sldId id="308" r:id="rId9"/>
    <p:sldId id="310" r:id="rId10"/>
    <p:sldId id="309" r:id="rId11"/>
    <p:sldId id="311" r:id="rId12"/>
    <p:sldId id="312" r:id="rId13"/>
    <p:sldId id="263" r:id="rId14"/>
    <p:sldId id="265" r:id="rId15"/>
    <p:sldId id="288" r:id="rId16"/>
    <p:sldId id="285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Sora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4D0C05-27A5-42EC-80FB-C974B3A3F821}">
  <a:tblStyle styleId="{DA4D0C05-27A5-42EC-80FB-C974B3A3F8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5" d="100"/>
          <a:sy n="95" d="100"/>
        </p:scale>
        <p:origin x="484" y="-2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FBF8FF-852E-40CD-AD31-7D39CFFEE3D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04D04C3-90E5-4190-80BC-1429C5D1E2DD}">
      <dgm:prSet phldrT="[Text]" phldr="0" custT="1"/>
      <dgm:spPr/>
      <dgm:t>
        <a:bodyPr/>
        <a:lstStyle/>
        <a:p>
          <a:r>
            <a:rPr lang="en-US" sz="2300" dirty="0"/>
            <a:t>Imputation</a:t>
          </a:r>
          <a:r>
            <a:rPr lang="en-US" sz="2500" dirty="0"/>
            <a:t> </a:t>
          </a:r>
          <a:endParaRPr lang="en-GB" sz="2500" dirty="0"/>
        </a:p>
      </dgm:t>
    </dgm:pt>
    <dgm:pt modelId="{83748898-C918-437A-B113-9DD24BF41A4A}" type="parTrans" cxnId="{F683EBCB-11CD-4043-B1D0-8DED850E972E}">
      <dgm:prSet/>
      <dgm:spPr/>
      <dgm:t>
        <a:bodyPr/>
        <a:lstStyle/>
        <a:p>
          <a:endParaRPr lang="en-GB"/>
        </a:p>
      </dgm:t>
    </dgm:pt>
    <dgm:pt modelId="{48B696BA-5DD1-40B4-85D1-E5F92B66FDC9}" type="sibTrans" cxnId="{F683EBCB-11CD-4043-B1D0-8DED850E972E}">
      <dgm:prSet/>
      <dgm:spPr/>
      <dgm:t>
        <a:bodyPr/>
        <a:lstStyle/>
        <a:p>
          <a:endParaRPr lang="en-GB"/>
        </a:p>
      </dgm:t>
    </dgm:pt>
    <dgm:pt modelId="{98DD4959-49C8-4CF8-8875-3AC1BE625451}">
      <dgm:prSet phldrT="[Text]" phldr="0" custT="1"/>
      <dgm:spPr/>
      <dgm:t>
        <a:bodyPr/>
        <a:lstStyle/>
        <a:p>
          <a:r>
            <a:rPr lang="en-US" sz="2300" dirty="0"/>
            <a:t>Scaling &amp; Encoding</a:t>
          </a:r>
          <a:endParaRPr lang="en-GB" sz="2300" dirty="0"/>
        </a:p>
      </dgm:t>
    </dgm:pt>
    <dgm:pt modelId="{1C6A89E2-2B8D-4EBB-BA71-BF7CF98CA402}" type="parTrans" cxnId="{1C08A099-90DC-4E20-B42E-C7E8EADC241B}">
      <dgm:prSet/>
      <dgm:spPr/>
      <dgm:t>
        <a:bodyPr/>
        <a:lstStyle/>
        <a:p>
          <a:endParaRPr lang="en-GB"/>
        </a:p>
      </dgm:t>
    </dgm:pt>
    <dgm:pt modelId="{045570DE-1E68-45B6-9F74-5D8721332117}" type="sibTrans" cxnId="{1C08A099-90DC-4E20-B42E-C7E8EADC241B}">
      <dgm:prSet/>
      <dgm:spPr/>
      <dgm:t>
        <a:bodyPr/>
        <a:lstStyle/>
        <a:p>
          <a:endParaRPr lang="en-GB"/>
        </a:p>
      </dgm:t>
    </dgm:pt>
    <dgm:pt modelId="{4602EFD9-D98F-4AC3-B8BA-BC71E948B3F4}">
      <dgm:prSet phldrT="[Text]" phldr="0" custT="1"/>
      <dgm:spPr/>
      <dgm:t>
        <a:bodyPr/>
        <a:lstStyle/>
        <a:p>
          <a:r>
            <a:rPr lang="en-US" sz="2100" dirty="0"/>
            <a:t>Feature Engineering</a:t>
          </a:r>
          <a:endParaRPr lang="en-GB" sz="2100" dirty="0"/>
        </a:p>
      </dgm:t>
    </dgm:pt>
    <dgm:pt modelId="{D82CE4A9-8122-4DC6-A1E3-3A5B4530901A}" type="parTrans" cxnId="{8E2F58FB-5CAD-4AD1-86E0-8685D59601AA}">
      <dgm:prSet/>
      <dgm:spPr/>
      <dgm:t>
        <a:bodyPr/>
        <a:lstStyle/>
        <a:p>
          <a:endParaRPr lang="en-GB"/>
        </a:p>
      </dgm:t>
    </dgm:pt>
    <dgm:pt modelId="{31CD68DF-8F19-4D95-80C2-A9C898BD98B1}" type="sibTrans" cxnId="{8E2F58FB-5CAD-4AD1-86E0-8685D59601AA}">
      <dgm:prSet/>
      <dgm:spPr/>
      <dgm:t>
        <a:bodyPr/>
        <a:lstStyle/>
        <a:p>
          <a:endParaRPr lang="en-GB"/>
        </a:p>
      </dgm:t>
    </dgm:pt>
    <dgm:pt modelId="{09B0F8DC-F2E2-4B9E-9D85-D9B49A63B2D1}">
      <dgm:prSet/>
      <dgm:spPr/>
      <dgm:t>
        <a:bodyPr/>
        <a:lstStyle/>
        <a:p>
          <a:r>
            <a:rPr lang="en-US" dirty="0"/>
            <a:t>Use of iterative imputer </a:t>
          </a:r>
          <a:endParaRPr lang="en-GB" dirty="0"/>
        </a:p>
      </dgm:t>
    </dgm:pt>
    <dgm:pt modelId="{17CD43FC-6A55-4032-8BFB-EC4A49F8EF10}" type="parTrans" cxnId="{20E32A7C-7492-4A46-87C7-28FC6D478227}">
      <dgm:prSet/>
      <dgm:spPr/>
      <dgm:t>
        <a:bodyPr/>
        <a:lstStyle/>
        <a:p>
          <a:endParaRPr lang="en-GB"/>
        </a:p>
      </dgm:t>
    </dgm:pt>
    <dgm:pt modelId="{465B2F3A-271B-4CAA-A67F-CBB5B886DB76}" type="sibTrans" cxnId="{20E32A7C-7492-4A46-87C7-28FC6D478227}">
      <dgm:prSet/>
      <dgm:spPr/>
      <dgm:t>
        <a:bodyPr/>
        <a:lstStyle/>
        <a:p>
          <a:endParaRPr lang="en-GB"/>
        </a:p>
      </dgm:t>
    </dgm:pt>
    <dgm:pt modelId="{2354088B-BA7C-49D0-9C19-A2610F0678B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Scaling for numeric features: z-score standardization &amp; </a:t>
          </a:r>
          <a:r>
            <a:rPr lang="en-GB" b="0" dirty="0"/>
            <a:t>Robust Scaler</a:t>
          </a:r>
          <a:endParaRPr lang="en-GB" dirty="0"/>
        </a:p>
      </dgm:t>
    </dgm:pt>
    <dgm:pt modelId="{E992B20C-3B3D-401A-8240-5C88015473FC}" type="parTrans" cxnId="{C19A4561-F029-4342-ABC0-0113171C7DD9}">
      <dgm:prSet/>
      <dgm:spPr/>
      <dgm:t>
        <a:bodyPr/>
        <a:lstStyle/>
        <a:p>
          <a:endParaRPr lang="en-GB"/>
        </a:p>
      </dgm:t>
    </dgm:pt>
    <dgm:pt modelId="{214932C8-303F-470C-87A4-E3D5C83DE9FC}" type="sibTrans" cxnId="{C19A4561-F029-4342-ABC0-0113171C7DD9}">
      <dgm:prSet/>
      <dgm:spPr/>
      <dgm:t>
        <a:bodyPr/>
        <a:lstStyle/>
        <a:p>
          <a:endParaRPr lang="en-GB"/>
        </a:p>
      </dgm:t>
    </dgm:pt>
    <dgm:pt modelId="{C6D7866C-43C5-4D71-A060-EE9DF8AFD38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GB" dirty="0"/>
        </a:p>
      </dgm:t>
    </dgm:pt>
    <dgm:pt modelId="{11699A92-AA45-4246-A3F4-1B1748F2A04B}" type="parTrans" cxnId="{06D82D90-7C16-4647-98DF-909A61330CE4}">
      <dgm:prSet/>
      <dgm:spPr/>
      <dgm:t>
        <a:bodyPr/>
        <a:lstStyle/>
        <a:p>
          <a:endParaRPr lang="en-GB"/>
        </a:p>
      </dgm:t>
    </dgm:pt>
    <dgm:pt modelId="{9EAEE8EE-3DAC-45F4-84BD-C89C3A171EB7}" type="sibTrans" cxnId="{06D82D90-7C16-4647-98DF-909A61330CE4}">
      <dgm:prSet/>
      <dgm:spPr/>
      <dgm:t>
        <a:bodyPr/>
        <a:lstStyle/>
        <a:p>
          <a:endParaRPr lang="en-GB"/>
        </a:p>
      </dgm:t>
    </dgm:pt>
    <dgm:pt modelId="{12E0EC4A-5C07-4011-94CC-A83B443EBBB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Encoding using one-hot encoder and label encoding</a:t>
          </a:r>
          <a:endParaRPr lang="en-GB" dirty="0"/>
        </a:p>
      </dgm:t>
    </dgm:pt>
    <dgm:pt modelId="{D5B45159-A8F4-42CC-9AB5-413C74927536}" type="parTrans" cxnId="{2BF7AAD5-9C60-4C87-A572-4C59B67AC91C}">
      <dgm:prSet/>
      <dgm:spPr/>
      <dgm:t>
        <a:bodyPr/>
        <a:lstStyle/>
        <a:p>
          <a:endParaRPr lang="en-GB"/>
        </a:p>
      </dgm:t>
    </dgm:pt>
    <dgm:pt modelId="{04CED5FB-08AA-485F-8A3A-F11C86433B34}" type="sibTrans" cxnId="{2BF7AAD5-9C60-4C87-A572-4C59B67AC91C}">
      <dgm:prSet/>
      <dgm:spPr/>
      <dgm:t>
        <a:bodyPr/>
        <a:lstStyle/>
        <a:p>
          <a:endParaRPr lang="en-GB"/>
        </a:p>
      </dgm:t>
    </dgm:pt>
    <dgm:pt modelId="{87C95585-3C4C-4C9F-8552-A1EC95AF9CA3}">
      <dgm:prSet/>
      <dgm:spPr/>
      <dgm:t>
        <a:bodyPr/>
        <a:lstStyle/>
        <a:p>
          <a:pPr>
            <a:buNone/>
          </a:pPr>
          <a:r>
            <a:rPr lang="en-US" dirty="0"/>
            <a:t>Added new features:</a:t>
          </a:r>
          <a:endParaRPr lang="en-GB" dirty="0"/>
        </a:p>
      </dgm:t>
    </dgm:pt>
    <dgm:pt modelId="{B8093A6D-8065-41DF-A491-70C8C9AF62B6}" type="parTrans" cxnId="{4F77A256-3B7B-4EEE-A58E-ED1AB5F4D908}">
      <dgm:prSet/>
      <dgm:spPr/>
      <dgm:t>
        <a:bodyPr/>
        <a:lstStyle/>
        <a:p>
          <a:endParaRPr lang="en-GB"/>
        </a:p>
      </dgm:t>
    </dgm:pt>
    <dgm:pt modelId="{7E1EDE61-EB0E-4B63-9AFE-11725F593D7B}" type="sibTrans" cxnId="{4F77A256-3B7B-4EEE-A58E-ED1AB5F4D908}">
      <dgm:prSet/>
      <dgm:spPr/>
      <dgm:t>
        <a:bodyPr/>
        <a:lstStyle/>
        <a:p>
          <a:endParaRPr lang="en-GB"/>
        </a:p>
      </dgm:t>
    </dgm:pt>
    <dgm:pt modelId="{D03D7FC6-BD37-4CE6-90E1-7BB667C674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Age tier</a:t>
          </a:r>
          <a:endParaRPr lang="en-GB" dirty="0"/>
        </a:p>
      </dgm:t>
    </dgm:pt>
    <dgm:pt modelId="{1FB1F6A0-74B3-4BBB-B479-788E85A772A5}" type="parTrans" cxnId="{13C61922-D7A5-4153-B4EA-077AE809AA44}">
      <dgm:prSet/>
      <dgm:spPr/>
      <dgm:t>
        <a:bodyPr/>
        <a:lstStyle/>
        <a:p>
          <a:endParaRPr lang="en-GB"/>
        </a:p>
      </dgm:t>
    </dgm:pt>
    <dgm:pt modelId="{C24E47E4-A17A-4CF8-826F-8B4AEB4C5839}" type="sibTrans" cxnId="{13C61922-D7A5-4153-B4EA-077AE809AA44}">
      <dgm:prSet/>
      <dgm:spPr/>
      <dgm:t>
        <a:bodyPr/>
        <a:lstStyle/>
        <a:p>
          <a:endParaRPr lang="en-GB"/>
        </a:p>
      </dgm:t>
    </dgm:pt>
    <dgm:pt modelId="{A9CD8037-A4AB-4C52-8B4C-ABB431C25FD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Category sum</a:t>
          </a:r>
          <a:endParaRPr lang="en-GB" dirty="0"/>
        </a:p>
      </dgm:t>
    </dgm:pt>
    <dgm:pt modelId="{944C994A-8450-48E6-9F2E-ABCEA33BFFD5}" type="parTrans" cxnId="{C9543697-A229-44BC-9367-3AD4CEF231F0}">
      <dgm:prSet/>
      <dgm:spPr/>
      <dgm:t>
        <a:bodyPr/>
        <a:lstStyle/>
        <a:p>
          <a:endParaRPr lang="en-GB"/>
        </a:p>
      </dgm:t>
    </dgm:pt>
    <dgm:pt modelId="{243373A9-A044-411E-9EC6-826C0AE12026}" type="sibTrans" cxnId="{C9543697-A229-44BC-9367-3AD4CEF231F0}">
      <dgm:prSet/>
      <dgm:spPr/>
      <dgm:t>
        <a:bodyPr/>
        <a:lstStyle/>
        <a:p>
          <a:endParaRPr lang="en-GB"/>
        </a:p>
      </dgm:t>
    </dgm:pt>
    <dgm:pt modelId="{AA98E9DC-4E88-4135-9893-A298D78A6DB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dirty="0" err="1"/>
            <a:t>balance_minus_limit</a:t>
          </a:r>
          <a:endParaRPr lang="en-GB" dirty="0"/>
        </a:p>
      </dgm:t>
    </dgm:pt>
    <dgm:pt modelId="{C46A2C8C-F551-4D04-8326-5FC05B0020AD}" type="parTrans" cxnId="{A5A75FF5-FAD0-4F13-B023-128D2B83544D}">
      <dgm:prSet/>
      <dgm:spPr/>
      <dgm:t>
        <a:bodyPr/>
        <a:lstStyle/>
        <a:p>
          <a:endParaRPr lang="en-GB"/>
        </a:p>
      </dgm:t>
    </dgm:pt>
    <dgm:pt modelId="{A8FEA656-FA9A-4F7C-BD6C-E973BFDBA077}" type="sibTrans" cxnId="{A5A75FF5-FAD0-4F13-B023-128D2B83544D}">
      <dgm:prSet/>
      <dgm:spPr/>
      <dgm:t>
        <a:bodyPr/>
        <a:lstStyle/>
        <a:p>
          <a:endParaRPr lang="en-GB"/>
        </a:p>
      </dgm:t>
    </dgm:pt>
    <dgm:pt modelId="{DE268919-D5C6-498A-BDDA-80FD356B7710}" type="pres">
      <dgm:prSet presAssocID="{41FBF8FF-852E-40CD-AD31-7D39CFFEE3DE}" presName="linear" presStyleCnt="0">
        <dgm:presLayoutVars>
          <dgm:dir/>
          <dgm:animLvl val="lvl"/>
          <dgm:resizeHandles val="exact"/>
        </dgm:presLayoutVars>
      </dgm:prSet>
      <dgm:spPr/>
    </dgm:pt>
    <dgm:pt modelId="{F9AA5260-3E7B-48A8-814C-3C2C5656349C}" type="pres">
      <dgm:prSet presAssocID="{804D04C3-90E5-4190-80BC-1429C5D1E2DD}" presName="parentLin" presStyleCnt="0"/>
      <dgm:spPr/>
    </dgm:pt>
    <dgm:pt modelId="{0ECA0F18-CDF7-4F82-A56A-510E2F515BC9}" type="pres">
      <dgm:prSet presAssocID="{804D04C3-90E5-4190-80BC-1429C5D1E2DD}" presName="parentLeftMargin" presStyleLbl="node1" presStyleIdx="0" presStyleCnt="3"/>
      <dgm:spPr/>
    </dgm:pt>
    <dgm:pt modelId="{646A7F82-7A5A-4A7A-BA3C-8D90E77F43C4}" type="pres">
      <dgm:prSet presAssocID="{804D04C3-90E5-4190-80BC-1429C5D1E2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B41C28-101F-47BD-9167-729DCB88959F}" type="pres">
      <dgm:prSet presAssocID="{804D04C3-90E5-4190-80BC-1429C5D1E2DD}" presName="negativeSpace" presStyleCnt="0"/>
      <dgm:spPr/>
    </dgm:pt>
    <dgm:pt modelId="{2AEA4ECB-CF1E-4805-8A5D-6CF7AFBA6992}" type="pres">
      <dgm:prSet presAssocID="{804D04C3-90E5-4190-80BC-1429C5D1E2DD}" presName="childText" presStyleLbl="conFgAcc1" presStyleIdx="0" presStyleCnt="3">
        <dgm:presLayoutVars>
          <dgm:bulletEnabled val="1"/>
        </dgm:presLayoutVars>
      </dgm:prSet>
      <dgm:spPr/>
    </dgm:pt>
    <dgm:pt modelId="{82998FC9-6AF9-40B3-BF1F-C4CC5F46F032}" type="pres">
      <dgm:prSet presAssocID="{48B696BA-5DD1-40B4-85D1-E5F92B66FDC9}" presName="spaceBetweenRectangles" presStyleCnt="0"/>
      <dgm:spPr/>
    </dgm:pt>
    <dgm:pt modelId="{8E31432F-8D71-4DCB-A3DE-DC897F0ED0E6}" type="pres">
      <dgm:prSet presAssocID="{98DD4959-49C8-4CF8-8875-3AC1BE625451}" presName="parentLin" presStyleCnt="0"/>
      <dgm:spPr/>
    </dgm:pt>
    <dgm:pt modelId="{1BDB3C2A-9207-47DA-B9F1-BC7A0A5154D9}" type="pres">
      <dgm:prSet presAssocID="{98DD4959-49C8-4CF8-8875-3AC1BE625451}" presName="parentLeftMargin" presStyleLbl="node1" presStyleIdx="0" presStyleCnt="3"/>
      <dgm:spPr/>
    </dgm:pt>
    <dgm:pt modelId="{4D40175C-728F-4A03-AB13-4774E2E773C5}" type="pres">
      <dgm:prSet presAssocID="{98DD4959-49C8-4CF8-8875-3AC1BE625451}" presName="parentText" presStyleLbl="node1" presStyleIdx="1" presStyleCnt="3" custScaleX="105253">
        <dgm:presLayoutVars>
          <dgm:chMax val="0"/>
          <dgm:bulletEnabled val="1"/>
        </dgm:presLayoutVars>
      </dgm:prSet>
      <dgm:spPr/>
    </dgm:pt>
    <dgm:pt modelId="{85A9198C-5771-4137-A216-CA33578095D3}" type="pres">
      <dgm:prSet presAssocID="{98DD4959-49C8-4CF8-8875-3AC1BE625451}" presName="negativeSpace" presStyleCnt="0"/>
      <dgm:spPr/>
    </dgm:pt>
    <dgm:pt modelId="{8D4C2346-AB69-4F66-9DCA-C618C2693D3F}" type="pres">
      <dgm:prSet presAssocID="{98DD4959-49C8-4CF8-8875-3AC1BE625451}" presName="childText" presStyleLbl="conFgAcc1" presStyleIdx="1" presStyleCnt="3">
        <dgm:presLayoutVars>
          <dgm:bulletEnabled val="1"/>
        </dgm:presLayoutVars>
      </dgm:prSet>
      <dgm:spPr/>
    </dgm:pt>
    <dgm:pt modelId="{71DCE71C-4DF4-46A8-88A2-88FBBF15E622}" type="pres">
      <dgm:prSet presAssocID="{045570DE-1E68-45B6-9F74-5D8721332117}" presName="spaceBetweenRectangles" presStyleCnt="0"/>
      <dgm:spPr/>
    </dgm:pt>
    <dgm:pt modelId="{54921CD4-177B-42AC-A393-91A89CD559BC}" type="pres">
      <dgm:prSet presAssocID="{4602EFD9-D98F-4AC3-B8BA-BC71E948B3F4}" presName="parentLin" presStyleCnt="0"/>
      <dgm:spPr/>
    </dgm:pt>
    <dgm:pt modelId="{4101CBB4-9261-4CB7-8928-C6E76ADAB31F}" type="pres">
      <dgm:prSet presAssocID="{4602EFD9-D98F-4AC3-B8BA-BC71E948B3F4}" presName="parentLeftMargin" presStyleLbl="node1" presStyleIdx="1" presStyleCnt="3"/>
      <dgm:spPr/>
    </dgm:pt>
    <dgm:pt modelId="{C2DD0BAF-9DA5-4EAD-939B-74C65AD945B1}" type="pres">
      <dgm:prSet presAssocID="{4602EFD9-D98F-4AC3-B8BA-BC71E948B3F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61B49C7-EA6C-45B4-98F7-A6CB34A65347}" type="pres">
      <dgm:prSet presAssocID="{4602EFD9-D98F-4AC3-B8BA-BC71E948B3F4}" presName="negativeSpace" presStyleCnt="0"/>
      <dgm:spPr/>
    </dgm:pt>
    <dgm:pt modelId="{D9D157AA-5DEA-4D94-A53B-2D40256D151E}" type="pres">
      <dgm:prSet presAssocID="{4602EFD9-D98F-4AC3-B8BA-BC71E948B3F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FF31005-DBEF-48DB-BBE1-C74D8BA57DE0}" type="presOf" srcId="{98DD4959-49C8-4CF8-8875-3AC1BE625451}" destId="{1BDB3C2A-9207-47DA-B9F1-BC7A0A5154D9}" srcOrd="0" destOrd="0" presId="urn:microsoft.com/office/officeart/2005/8/layout/list1"/>
    <dgm:cxn modelId="{22B7BA1A-CEC1-445A-A64F-7E65D73635DD}" type="presOf" srcId="{A9CD8037-A4AB-4C52-8B4C-ABB431C25FD0}" destId="{D9D157AA-5DEA-4D94-A53B-2D40256D151E}" srcOrd="0" destOrd="2" presId="urn:microsoft.com/office/officeart/2005/8/layout/list1"/>
    <dgm:cxn modelId="{13C61922-D7A5-4153-B4EA-077AE809AA44}" srcId="{4602EFD9-D98F-4AC3-B8BA-BC71E948B3F4}" destId="{D03D7FC6-BD37-4CE6-90E1-7BB667C6742F}" srcOrd="1" destOrd="0" parTransId="{1FB1F6A0-74B3-4BBB-B479-788E85A772A5}" sibTransId="{C24E47E4-A17A-4CF8-826F-8B4AEB4C5839}"/>
    <dgm:cxn modelId="{B8AB1527-F462-46B7-8142-066F1FC1D26D}" type="presOf" srcId="{4602EFD9-D98F-4AC3-B8BA-BC71E948B3F4}" destId="{4101CBB4-9261-4CB7-8928-C6E76ADAB31F}" srcOrd="0" destOrd="0" presId="urn:microsoft.com/office/officeart/2005/8/layout/list1"/>
    <dgm:cxn modelId="{F172D128-2ED3-4416-8EB9-A3549B5B1AAC}" type="presOf" srcId="{98DD4959-49C8-4CF8-8875-3AC1BE625451}" destId="{4D40175C-728F-4A03-AB13-4774E2E773C5}" srcOrd="1" destOrd="0" presId="urn:microsoft.com/office/officeart/2005/8/layout/list1"/>
    <dgm:cxn modelId="{67CACE2D-2227-4A28-85F7-54A6F382670F}" type="presOf" srcId="{C6D7866C-43C5-4D71-A060-EE9DF8AFD389}" destId="{8D4C2346-AB69-4F66-9DCA-C618C2693D3F}" srcOrd="0" destOrd="2" presId="urn:microsoft.com/office/officeart/2005/8/layout/list1"/>
    <dgm:cxn modelId="{E751385D-8A92-46C5-B2E2-6AF931D55B5C}" type="presOf" srcId="{12E0EC4A-5C07-4011-94CC-A83B443EBBB9}" destId="{8D4C2346-AB69-4F66-9DCA-C618C2693D3F}" srcOrd="0" destOrd="1" presId="urn:microsoft.com/office/officeart/2005/8/layout/list1"/>
    <dgm:cxn modelId="{C19A4561-F029-4342-ABC0-0113171C7DD9}" srcId="{98DD4959-49C8-4CF8-8875-3AC1BE625451}" destId="{2354088B-BA7C-49D0-9C19-A2610F0678BB}" srcOrd="0" destOrd="0" parTransId="{E992B20C-3B3D-401A-8240-5C88015473FC}" sibTransId="{214932C8-303F-470C-87A4-E3D5C83DE9FC}"/>
    <dgm:cxn modelId="{9FED8645-A864-42AE-9484-015FCBB2712C}" type="presOf" srcId="{2354088B-BA7C-49D0-9C19-A2610F0678BB}" destId="{8D4C2346-AB69-4F66-9DCA-C618C2693D3F}" srcOrd="0" destOrd="0" presId="urn:microsoft.com/office/officeart/2005/8/layout/list1"/>
    <dgm:cxn modelId="{5E99AC4D-B2B1-4416-A8C0-571A909C1D04}" type="presOf" srcId="{4602EFD9-D98F-4AC3-B8BA-BC71E948B3F4}" destId="{C2DD0BAF-9DA5-4EAD-939B-74C65AD945B1}" srcOrd="1" destOrd="0" presId="urn:microsoft.com/office/officeart/2005/8/layout/list1"/>
    <dgm:cxn modelId="{892D514E-494C-4E0F-A45D-33B59C1D8295}" type="presOf" srcId="{D03D7FC6-BD37-4CE6-90E1-7BB667C6742F}" destId="{D9D157AA-5DEA-4D94-A53B-2D40256D151E}" srcOrd="0" destOrd="1" presId="urn:microsoft.com/office/officeart/2005/8/layout/list1"/>
    <dgm:cxn modelId="{9B784370-4FEB-4018-A9E8-6FAF60793752}" type="presOf" srcId="{AA98E9DC-4E88-4135-9893-A298D78A6DBB}" destId="{D9D157AA-5DEA-4D94-A53B-2D40256D151E}" srcOrd="0" destOrd="3" presId="urn:microsoft.com/office/officeart/2005/8/layout/list1"/>
    <dgm:cxn modelId="{19754975-2797-40B2-8261-4D1AD81566B3}" type="presOf" srcId="{09B0F8DC-F2E2-4B9E-9D85-D9B49A63B2D1}" destId="{2AEA4ECB-CF1E-4805-8A5D-6CF7AFBA6992}" srcOrd="0" destOrd="0" presId="urn:microsoft.com/office/officeart/2005/8/layout/list1"/>
    <dgm:cxn modelId="{4F77A256-3B7B-4EEE-A58E-ED1AB5F4D908}" srcId="{4602EFD9-D98F-4AC3-B8BA-BC71E948B3F4}" destId="{87C95585-3C4C-4C9F-8552-A1EC95AF9CA3}" srcOrd="0" destOrd="0" parTransId="{B8093A6D-8065-41DF-A491-70C8C9AF62B6}" sibTransId="{7E1EDE61-EB0E-4B63-9AFE-11725F593D7B}"/>
    <dgm:cxn modelId="{20E32A7C-7492-4A46-87C7-28FC6D478227}" srcId="{804D04C3-90E5-4190-80BC-1429C5D1E2DD}" destId="{09B0F8DC-F2E2-4B9E-9D85-D9B49A63B2D1}" srcOrd="0" destOrd="0" parTransId="{17CD43FC-6A55-4032-8BFB-EC4A49F8EF10}" sibTransId="{465B2F3A-271B-4CAA-A67F-CBB5B886DB76}"/>
    <dgm:cxn modelId="{06D82D90-7C16-4647-98DF-909A61330CE4}" srcId="{98DD4959-49C8-4CF8-8875-3AC1BE625451}" destId="{C6D7866C-43C5-4D71-A060-EE9DF8AFD389}" srcOrd="2" destOrd="0" parTransId="{11699A92-AA45-4246-A3F4-1B1748F2A04B}" sibTransId="{9EAEE8EE-3DAC-45F4-84BD-C89C3A171EB7}"/>
    <dgm:cxn modelId="{C9543697-A229-44BC-9367-3AD4CEF231F0}" srcId="{4602EFD9-D98F-4AC3-B8BA-BC71E948B3F4}" destId="{A9CD8037-A4AB-4C52-8B4C-ABB431C25FD0}" srcOrd="2" destOrd="0" parTransId="{944C994A-8450-48E6-9F2E-ABCEA33BFFD5}" sibTransId="{243373A9-A044-411E-9EC6-826C0AE12026}"/>
    <dgm:cxn modelId="{1C08A099-90DC-4E20-B42E-C7E8EADC241B}" srcId="{41FBF8FF-852E-40CD-AD31-7D39CFFEE3DE}" destId="{98DD4959-49C8-4CF8-8875-3AC1BE625451}" srcOrd="1" destOrd="0" parTransId="{1C6A89E2-2B8D-4EBB-BA71-BF7CF98CA402}" sibTransId="{045570DE-1E68-45B6-9F74-5D8721332117}"/>
    <dgm:cxn modelId="{63CAFF9F-227D-4174-8147-AE4F38146076}" type="presOf" srcId="{804D04C3-90E5-4190-80BC-1429C5D1E2DD}" destId="{646A7F82-7A5A-4A7A-BA3C-8D90E77F43C4}" srcOrd="1" destOrd="0" presId="urn:microsoft.com/office/officeart/2005/8/layout/list1"/>
    <dgm:cxn modelId="{F683EBCB-11CD-4043-B1D0-8DED850E972E}" srcId="{41FBF8FF-852E-40CD-AD31-7D39CFFEE3DE}" destId="{804D04C3-90E5-4190-80BC-1429C5D1E2DD}" srcOrd="0" destOrd="0" parTransId="{83748898-C918-437A-B113-9DD24BF41A4A}" sibTransId="{48B696BA-5DD1-40B4-85D1-E5F92B66FDC9}"/>
    <dgm:cxn modelId="{8685DECF-0FCC-4DC1-8FE0-98E797AC896E}" type="presOf" srcId="{804D04C3-90E5-4190-80BC-1429C5D1E2DD}" destId="{0ECA0F18-CDF7-4F82-A56A-510E2F515BC9}" srcOrd="0" destOrd="0" presId="urn:microsoft.com/office/officeart/2005/8/layout/list1"/>
    <dgm:cxn modelId="{2BF7AAD5-9C60-4C87-A572-4C59B67AC91C}" srcId="{98DD4959-49C8-4CF8-8875-3AC1BE625451}" destId="{12E0EC4A-5C07-4011-94CC-A83B443EBBB9}" srcOrd="1" destOrd="0" parTransId="{D5B45159-A8F4-42CC-9AB5-413C74927536}" sibTransId="{04CED5FB-08AA-485F-8A3A-F11C86433B34}"/>
    <dgm:cxn modelId="{5A8F92E9-E2F4-4D7C-AD59-DA34787BE797}" type="presOf" srcId="{41FBF8FF-852E-40CD-AD31-7D39CFFEE3DE}" destId="{DE268919-D5C6-498A-BDDA-80FD356B7710}" srcOrd="0" destOrd="0" presId="urn:microsoft.com/office/officeart/2005/8/layout/list1"/>
    <dgm:cxn modelId="{93EBE1F1-5B14-49DD-8944-6123B91ED996}" type="presOf" srcId="{87C95585-3C4C-4C9F-8552-A1EC95AF9CA3}" destId="{D9D157AA-5DEA-4D94-A53B-2D40256D151E}" srcOrd="0" destOrd="0" presId="urn:microsoft.com/office/officeart/2005/8/layout/list1"/>
    <dgm:cxn modelId="{A5A75FF5-FAD0-4F13-B023-128D2B83544D}" srcId="{4602EFD9-D98F-4AC3-B8BA-BC71E948B3F4}" destId="{AA98E9DC-4E88-4135-9893-A298D78A6DBB}" srcOrd="3" destOrd="0" parTransId="{C46A2C8C-F551-4D04-8326-5FC05B0020AD}" sibTransId="{A8FEA656-FA9A-4F7C-BD6C-E973BFDBA077}"/>
    <dgm:cxn modelId="{8E2F58FB-5CAD-4AD1-86E0-8685D59601AA}" srcId="{41FBF8FF-852E-40CD-AD31-7D39CFFEE3DE}" destId="{4602EFD9-D98F-4AC3-B8BA-BC71E948B3F4}" srcOrd="2" destOrd="0" parTransId="{D82CE4A9-8122-4DC6-A1E3-3A5B4530901A}" sibTransId="{31CD68DF-8F19-4D95-80C2-A9C898BD98B1}"/>
    <dgm:cxn modelId="{2389DBE9-23E8-4ACE-9D5F-2FFF8305217B}" type="presParOf" srcId="{DE268919-D5C6-498A-BDDA-80FD356B7710}" destId="{F9AA5260-3E7B-48A8-814C-3C2C5656349C}" srcOrd="0" destOrd="0" presId="urn:microsoft.com/office/officeart/2005/8/layout/list1"/>
    <dgm:cxn modelId="{CACD9927-42B5-4190-A6B0-A62C703A3CD1}" type="presParOf" srcId="{F9AA5260-3E7B-48A8-814C-3C2C5656349C}" destId="{0ECA0F18-CDF7-4F82-A56A-510E2F515BC9}" srcOrd="0" destOrd="0" presId="urn:microsoft.com/office/officeart/2005/8/layout/list1"/>
    <dgm:cxn modelId="{EF369DCF-5587-48F8-BC9B-E1C8532D1B34}" type="presParOf" srcId="{F9AA5260-3E7B-48A8-814C-3C2C5656349C}" destId="{646A7F82-7A5A-4A7A-BA3C-8D90E77F43C4}" srcOrd="1" destOrd="0" presId="urn:microsoft.com/office/officeart/2005/8/layout/list1"/>
    <dgm:cxn modelId="{5680DFF9-3239-4EA9-8E90-AEB8E7AE32FB}" type="presParOf" srcId="{DE268919-D5C6-498A-BDDA-80FD356B7710}" destId="{C8B41C28-101F-47BD-9167-729DCB88959F}" srcOrd="1" destOrd="0" presId="urn:microsoft.com/office/officeart/2005/8/layout/list1"/>
    <dgm:cxn modelId="{C1FA6F32-7961-42F7-8289-41DE4981CD03}" type="presParOf" srcId="{DE268919-D5C6-498A-BDDA-80FD356B7710}" destId="{2AEA4ECB-CF1E-4805-8A5D-6CF7AFBA6992}" srcOrd="2" destOrd="0" presId="urn:microsoft.com/office/officeart/2005/8/layout/list1"/>
    <dgm:cxn modelId="{D3733CB2-8C4D-4A97-AC7B-D35EF662F429}" type="presParOf" srcId="{DE268919-D5C6-498A-BDDA-80FD356B7710}" destId="{82998FC9-6AF9-40B3-BF1F-C4CC5F46F032}" srcOrd="3" destOrd="0" presId="urn:microsoft.com/office/officeart/2005/8/layout/list1"/>
    <dgm:cxn modelId="{8811BBEF-8C17-490D-A26F-8E6799A831B4}" type="presParOf" srcId="{DE268919-D5C6-498A-BDDA-80FD356B7710}" destId="{8E31432F-8D71-4DCB-A3DE-DC897F0ED0E6}" srcOrd="4" destOrd="0" presId="urn:microsoft.com/office/officeart/2005/8/layout/list1"/>
    <dgm:cxn modelId="{749DE595-6C6E-4A04-8285-9DCAF9C26F9F}" type="presParOf" srcId="{8E31432F-8D71-4DCB-A3DE-DC897F0ED0E6}" destId="{1BDB3C2A-9207-47DA-B9F1-BC7A0A5154D9}" srcOrd="0" destOrd="0" presId="urn:microsoft.com/office/officeart/2005/8/layout/list1"/>
    <dgm:cxn modelId="{F6ED37DD-4738-434B-9D4F-B89C46EADD18}" type="presParOf" srcId="{8E31432F-8D71-4DCB-A3DE-DC897F0ED0E6}" destId="{4D40175C-728F-4A03-AB13-4774E2E773C5}" srcOrd="1" destOrd="0" presId="urn:microsoft.com/office/officeart/2005/8/layout/list1"/>
    <dgm:cxn modelId="{2BB6F184-8A41-43E7-B40F-70333EC17B0B}" type="presParOf" srcId="{DE268919-D5C6-498A-BDDA-80FD356B7710}" destId="{85A9198C-5771-4137-A216-CA33578095D3}" srcOrd="5" destOrd="0" presId="urn:microsoft.com/office/officeart/2005/8/layout/list1"/>
    <dgm:cxn modelId="{C6A13301-7201-4470-BC51-76E196A02CEA}" type="presParOf" srcId="{DE268919-D5C6-498A-BDDA-80FD356B7710}" destId="{8D4C2346-AB69-4F66-9DCA-C618C2693D3F}" srcOrd="6" destOrd="0" presId="urn:microsoft.com/office/officeart/2005/8/layout/list1"/>
    <dgm:cxn modelId="{7D0220B2-8D5D-4478-85E9-D9F90D9423A1}" type="presParOf" srcId="{DE268919-D5C6-498A-BDDA-80FD356B7710}" destId="{71DCE71C-4DF4-46A8-88A2-88FBBF15E622}" srcOrd="7" destOrd="0" presId="urn:microsoft.com/office/officeart/2005/8/layout/list1"/>
    <dgm:cxn modelId="{3FA77DD2-DB64-46CF-A2F2-34A2D69C0AD8}" type="presParOf" srcId="{DE268919-D5C6-498A-BDDA-80FD356B7710}" destId="{54921CD4-177B-42AC-A393-91A89CD559BC}" srcOrd="8" destOrd="0" presId="urn:microsoft.com/office/officeart/2005/8/layout/list1"/>
    <dgm:cxn modelId="{96E74CA9-FCB1-4BF0-8DCB-270FAECF08CB}" type="presParOf" srcId="{54921CD4-177B-42AC-A393-91A89CD559BC}" destId="{4101CBB4-9261-4CB7-8928-C6E76ADAB31F}" srcOrd="0" destOrd="0" presId="urn:microsoft.com/office/officeart/2005/8/layout/list1"/>
    <dgm:cxn modelId="{DD422D09-815B-497D-A078-6E7AFD0E7093}" type="presParOf" srcId="{54921CD4-177B-42AC-A393-91A89CD559BC}" destId="{C2DD0BAF-9DA5-4EAD-939B-74C65AD945B1}" srcOrd="1" destOrd="0" presId="urn:microsoft.com/office/officeart/2005/8/layout/list1"/>
    <dgm:cxn modelId="{5FBD9707-D589-4230-8C51-FA09A4B1CACC}" type="presParOf" srcId="{DE268919-D5C6-498A-BDDA-80FD356B7710}" destId="{861B49C7-EA6C-45B4-98F7-A6CB34A65347}" srcOrd="9" destOrd="0" presId="urn:microsoft.com/office/officeart/2005/8/layout/list1"/>
    <dgm:cxn modelId="{2B69A1B4-AAD2-4C72-9371-25282EFF3C4C}" type="presParOf" srcId="{DE268919-D5C6-498A-BDDA-80FD356B7710}" destId="{D9D157AA-5DEA-4D94-A53B-2D40256D151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A4ECB-CF1E-4805-8A5D-6CF7AFBA6992}">
      <dsp:nvSpPr>
        <dsp:cNvPr id="0" name=""/>
        <dsp:cNvSpPr/>
      </dsp:nvSpPr>
      <dsp:spPr>
        <a:xfrm>
          <a:off x="0" y="304339"/>
          <a:ext cx="3900407" cy="500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2715" tIns="249936" rIns="30271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Use of iterative imputer </a:t>
          </a:r>
          <a:endParaRPr lang="en-GB" sz="1200" kern="1200" dirty="0"/>
        </a:p>
      </dsp:txBody>
      <dsp:txXfrm>
        <a:off x="0" y="304339"/>
        <a:ext cx="3900407" cy="500850"/>
      </dsp:txXfrm>
    </dsp:sp>
    <dsp:sp modelId="{646A7F82-7A5A-4A7A-BA3C-8D90E77F43C4}">
      <dsp:nvSpPr>
        <dsp:cNvPr id="0" name=""/>
        <dsp:cNvSpPr/>
      </dsp:nvSpPr>
      <dsp:spPr>
        <a:xfrm>
          <a:off x="195020" y="127219"/>
          <a:ext cx="273028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98" tIns="0" rIns="103198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Imputation</a:t>
          </a:r>
          <a:r>
            <a:rPr lang="en-US" sz="2500" kern="1200" dirty="0"/>
            <a:t> </a:t>
          </a:r>
          <a:endParaRPr lang="en-GB" sz="2500" kern="1200" dirty="0"/>
        </a:p>
      </dsp:txBody>
      <dsp:txXfrm>
        <a:off x="212313" y="144512"/>
        <a:ext cx="2695698" cy="319654"/>
      </dsp:txXfrm>
    </dsp:sp>
    <dsp:sp modelId="{8D4C2346-AB69-4F66-9DCA-C618C2693D3F}">
      <dsp:nvSpPr>
        <dsp:cNvPr id="0" name=""/>
        <dsp:cNvSpPr/>
      </dsp:nvSpPr>
      <dsp:spPr>
        <a:xfrm>
          <a:off x="0" y="1047109"/>
          <a:ext cx="3900407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2715" tIns="249936" rIns="30271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Scaling for numeric features: z-score standardization &amp; </a:t>
          </a:r>
          <a:r>
            <a:rPr lang="en-GB" sz="1200" b="0" kern="1200" dirty="0"/>
            <a:t>Robust Scaler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Encoding using one-hot encoder and label encoding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GB" sz="1200" kern="1200" dirty="0"/>
        </a:p>
      </dsp:txBody>
      <dsp:txXfrm>
        <a:off x="0" y="1047109"/>
        <a:ext cx="3900407" cy="1190700"/>
      </dsp:txXfrm>
    </dsp:sp>
    <dsp:sp modelId="{4D40175C-728F-4A03-AB13-4774E2E773C5}">
      <dsp:nvSpPr>
        <dsp:cNvPr id="0" name=""/>
        <dsp:cNvSpPr/>
      </dsp:nvSpPr>
      <dsp:spPr>
        <a:xfrm>
          <a:off x="195020" y="869989"/>
          <a:ext cx="2873706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98" tIns="0" rIns="103198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Scaling &amp; Encoding</a:t>
          </a:r>
          <a:endParaRPr lang="en-GB" sz="2300" kern="1200" dirty="0"/>
        </a:p>
      </dsp:txBody>
      <dsp:txXfrm>
        <a:off x="212313" y="887282"/>
        <a:ext cx="2839120" cy="319654"/>
      </dsp:txXfrm>
    </dsp:sp>
    <dsp:sp modelId="{D9D157AA-5DEA-4D94-A53B-2D40256D151E}">
      <dsp:nvSpPr>
        <dsp:cNvPr id="0" name=""/>
        <dsp:cNvSpPr/>
      </dsp:nvSpPr>
      <dsp:spPr>
        <a:xfrm>
          <a:off x="0" y="2479729"/>
          <a:ext cx="3900407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2715" tIns="249936" rIns="30271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Added new features: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Age tier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Category sum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kern="1200" dirty="0" err="1"/>
            <a:t>balance_minus_limit</a:t>
          </a:r>
          <a:endParaRPr lang="en-GB" sz="1200" kern="1200" dirty="0"/>
        </a:p>
      </dsp:txBody>
      <dsp:txXfrm>
        <a:off x="0" y="2479729"/>
        <a:ext cx="3900407" cy="1058400"/>
      </dsp:txXfrm>
    </dsp:sp>
    <dsp:sp modelId="{C2DD0BAF-9DA5-4EAD-939B-74C65AD945B1}">
      <dsp:nvSpPr>
        <dsp:cNvPr id="0" name=""/>
        <dsp:cNvSpPr/>
      </dsp:nvSpPr>
      <dsp:spPr>
        <a:xfrm>
          <a:off x="195020" y="2302609"/>
          <a:ext cx="273028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98" tIns="0" rIns="103198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Feature Engineering</a:t>
          </a:r>
          <a:endParaRPr lang="en-GB" sz="2100" kern="1200" dirty="0"/>
        </a:p>
      </dsp:txBody>
      <dsp:txXfrm>
        <a:off x="212313" y="2319902"/>
        <a:ext cx="2695698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d1bf8d60a4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d1bf8d60a4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0447E83-AAA8-52CD-73F5-ED5F6C466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>
            <a:extLst>
              <a:ext uri="{FF2B5EF4-FFF2-40B4-BE49-F238E27FC236}">
                <a16:creationId xmlns:a16="http://schemas.microsoft.com/office/drawing/2014/main" id="{1A9CF1AC-032C-C7DF-8D3A-9F62C2991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>
            <a:extLst>
              <a:ext uri="{FF2B5EF4-FFF2-40B4-BE49-F238E27FC236}">
                <a16:creationId xmlns:a16="http://schemas.microsoft.com/office/drawing/2014/main" id="{BDF554D2-F790-1E19-E100-4D1A1DDE5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38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A47B7D85-B790-8851-F485-A77AF3ED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>
            <a:extLst>
              <a:ext uri="{FF2B5EF4-FFF2-40B4-BE49-F238E27FC236}">
                <a16:creationId xmlns:a16="http://schemas.microsoft.com/office/drawing/2014/main" id="{85ADC52C-D725-7E84-B78B-F631CC229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>
            <a:extLst>
              <a:ext uri="{FF2B5EF4-FFF2-40B4-BE49-F238E27FC236}">
                <a16:creationId xmlns:a16="http://schemas.microsoft.com/office/drawing/2014/main" id="{A5CCB0A8-DD1C-688B-B7EC-78DAB9557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916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35B45D14-51DF-1F33-C7AC-BFD9DB88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>
            <a:extLst>
              <a:ext uri="{FF2B5EF4-FFF2-40B4-BE49-F238E27FC236}">
                <a16:creationId xmlns:a16="http://schemas.microsoft.com/office/drawing/2014/main" id="{A1D6886E-0B23-9E61-0D94-F86F04271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>
            <a:extLst>
              <a:ext uri="{FF2B5EF4-FFF2-40B4-BE49-F238E27FC236}">
                <a16:creationId xmlns:a16="http://schemas.microsoft.com/office/drawing/2014/main" id="{ECE54054-812C-0511-CB1E-933E3EC3C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421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18E7CA8-2FEB-AEC6-5DA5-99C434DA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>
            <a:extLst>
              <a:ext uri="{FF2B5EF4-FFF2-40B4-BE49-F238E27FC236}">
                <a16:creationId xmlns:a16="http://schemas.microsoft.com/office/drawing/2014/main" id="{58A81A0D-CD01-2ECB-23A2-515999393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>
            <a:extLst>
              <a:ext uri="{FF2B5EF4-FFF2-40B4-BE49-F238E27FC236}">
                <a16:creationId xmlns:a16="http://schemas.microsoft.com/office/drawing/2014/main" id="{484F7E08-E653-8B09-0B7D-1ACDB5965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301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20F5FA8F-6FB9-6FB7-CB69-D46BD461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A2F461C3-66B9-CBB1-A71A-05D95110EE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5474F8EA-6C1E-A73B-4D33-AF60C0702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476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d1bf8d60a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d1bf8d60a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286fec561a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" name="Google Shape;1823;g286fec561a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d1bf8d60a4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d1bf8d60a4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" name="Google Shape;64;p6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 hasCustomPrompt="1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6" name="Google Shape;166;p17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7" name="Google Shape;167;p17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9" name="Google Shape;169;p17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1"/>
          <p:cNvSpPr txBox="1">
            <a:spLocks noGrp="1"/>
          </p:cNvSpPr>
          <p:nvPr>
            <p:ph type="subTitle" idx="1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21"/>
          <p:cNvSpPr txBox="1">
            <a:spLocks noGrp="1"/>
          </p:cNvSpPr>
          <p:nvPr>
            <p:ph type="subTitle" idx="2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20" name="Google Shape;220;p21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221" name="Google Shape;221;p21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2" name="Google Shape;222;p21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3" name="Google Shape;223;p21"/>
            <p:cNvCxnSpPr/>
            <p:nvPr/>
          </p:nvCxnSpPr>
          <p:spPr>
            <a:xfrm rot="-5400000" flipH="1">
              <a:off x="6680600" y="1389250"/>
              <a:ext cx="3956400" cy="30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4" name="Google Shape;224;p21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name="adj1" fmla="val 3546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5" name="Google Shape;225;p21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7" name="Google Shape;227;p21"/>
            <p:cNvCxnSpPr/>
            <p:nvPr/>
          </p:nvCxnSpPr>
          <p:spPr>
            <a:xfrm rot="-5400000" flipH="1">
              <a:off x="-1623700" y="-1097800"/>
              <a:ext cx="3956400" cy="30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8" name="Google Shape;228;p21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name="adj1" fmla="val 3546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29" name="Google Shape;229;p21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230" name="Google Shape;230;p21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4"/>
          <p:cNvSpPr txBox="1">
            <a:spLocks noGrp="1"/>
          </p:cNvSpPr>
          <p:nvPr>
            <p:ph type="subTitle" idx="1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4"/>
          <p:cNvSpPr txBox="1">
            <a:spLocks noGrp="1"/>
          </p:cNvSpPr>
          <p:nvPr>
            <p:ph type="subTitle" idx="2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subTitle" idx="3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4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5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4" name="Google Shape;274;p24"/>
          <p:cNvSpPr txBox="1">
            <a:spLocks noGrp="1"/>
          </p:cNvSpPr>
          <p:nvPr>
            <p:ph type="subTitle" idx="6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7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subTitle" idx="8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>
            <a:spLocks noGrp="1"/>
          </p:cNvSpPr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7"/>
          <p:cNvSpPr txBox="1">
            <a:spLocks noGrp="1"/>
          </p:cNvSpPr>
          <p:nvPr>
            <p:ph type="subTitle" idx="1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8" r:id="rId5"/>
    <p:sldLayoutId id="2147483659" r:id="rId6"/>
    <p:sldLayoutId id="2147483662" r:id="rId7"/>
    <p:sldLayoutId id="2147483663" r:id="rId8"/>
    <p:sldLayoutId id="2147483667" r:id="rId9"/>
    <p:sldLayoutId id="2147483670" r:id="rId10"/>
    <p:sldLayoutId id="2147483673" r:id="rId11"/>
    <p:sldLayoutId id="2147483674" r:id="rId12"/>
    <p:sldLayoutId id="214748367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gradient-quantum-illustration_22112086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3812400" y="1061225"/>
            <a:ext cx="4742664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GB" sz="4000" dirty="0"/>
              <a:t>Credit Card Churn Prediction</a:t>
            </a:r>
            <a:endParaRPr sz="4000" dirty="0"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GB" sz="1400" dirty="0"/>
              <a:t>Machine Learning for Proactive Customer Retention</a:t>
            </a:r>
            <a:endParaRPr sz="1400" dirty="0"/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2235667-979E-58F4-33B1-0D9C1625EE87}"/>
              </a:ext>
            </a:extLst>
          </p:cNvPr>
          <p:cNvSpPr txBox="1"/>
          <p:nvPr/>
        </p:nvSpPr>
        <p:spPr>
          <a:xfrm>
            <a:off x="6222569" y="3593197"/>
            <a:ext cx="2195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By: Mohamed Mekawy</a:t>
            </a:r>
            <a:endParaRPr lang="en-GB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54" name="Google Shape;454;p35"/>
          <p:cNvSpPr txBox="1">
            <a:spLocks noGrp="1"/>
          </p:cNvSpPr>
          <p:nvPr>
            <p:ph type="title" idx="5"/>
          </p:nvPr>
        </p:nvSpPr>
        <p:spPr>
          <a:xfrm>
            <a:off x="1986273" y="1297500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55" name="Google Shape;455;p35"/>
          <p:cNvSpPr txBox="1">
            <a:spLocks noGrp="1"/>
          </p:cNvSpPr>
          <p:nvPr>
            <p:ph type="title" idx="7"/>
          </p:nvPr>
        </p:nvSpPr>
        <p:spPr>
          <a:xfrm>
            <a:off x="1986273" y="1885553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56" name="Google Shape;456;p35"/>
          <p:cNvSpPr txBox="1">
            <a:spLocks noGrp="1"/>
          </p:cNvSpPr>
          <p:nvPr>
            <p:ph type="title" idx="8"/>
          </p:nvPr>
        </p:nvSpPr>
        <p:spPr>
          <a:xfrm>
            <a:off x="1986273" y="3129099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57" name="Google Shape;457;p35"/>
          <p:cNvSpPr txBox="1">
            <a:spLocks noGrp="1"/>
          </p:cNvSpPr>
          <p:nvPr>
            <p:ph type="title" idx="6"/>
          </p:nvPr>
        </p:nvSpPr>
        <p:spPr>
          <a:xfrm>
            <a:off x="1986273" y="2507326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58" name="Google Shape;458;p35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Problem</a:t>
            </a:r>
            <a:endParaRPr dirty="0"/>
          </a:p>
        </p:txBody>
      </p:sp>
      <p:sp>
        <p:nvSpPr>
          <p:cNvPr id="459" name="Google Shape;459;p35"/>
          <p:cNvSpPr txBox="1">
            <a:spLocks noGrp="1"/>
          </p:cNvSpPr>
          <p:nvPr>
            <p:ph type="subTitle" idx="13"/>
          </p:nvPr>
        </p:nvSpPr>
        <p:spPr>
          <a:xfrm>
            <a:off x="2917223" y="1934668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Understanding the Data &amp; EDA</a:t>
            </a:r>
            <a:endParaRPr dirty="0"/>
          </a:p>
        </p:txBody>
      </p:sp>
      <p:sp>
        <p:nvSpPr>
          <p:cNvPr id="460" name="Google Shape;460;p35"/>
          <p:cNvSpPr txBox="1">
            <a:spLocks noGrp="1"/>
          </p:cNvSpPr>
          <p:nvPr>
            <p:ph type="subTitle" idx="14"/>
          </p:nvPr>
        </p:nvSpPr>
        <p:spPr>
          <a:xfrm>
            <a:off x="2917223" y="32118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AI &amp; Modelling</a:t>
            </a:r>
            <a:endParaRPr dirty="0"/>
          </a:p>
        </p:txBody>
      </p:sp>
      <p:sp>
        <p:nvSpPr>
          <p:cNvPr id="461" name="Google Shape;461;p35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Model Evaluation</a:t>
            </a:r>
            <a:endParaRPr dirty="0"/>
          </a:p>
        </p:txBody>
      </p:sp>
      <p:sp>
        <p:nvSpPr>
          <p:cNvPr id="8" name="Google Shape;456;p35">
            <a:extLst>
              <a:ext uri="{FF2B5EF4-FFF2-40B4-BE49-F238E27FC236}">
                <a16:creationId xmlns:a16="http://schemas.microsoft.com/office/drawing/2014/main" id="{A622F470-0D8A-EFDE-C3C9-D82B8B5173C3}"/>
              </a:ext>
            </a:extLst>
          </p:cNvPr>
          <p:cNvSpPr txBox="1">
            <a:spLocks/>
          </p:cNvSpPr>
          <p:nvPr/>
        </p:nvSpPr>
        <p:spPr>
          <a:xfrm>
            <a:off x="1986273" y="382062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2000" b="1" i="0" u="none" strike="noStrike" cap="none" spc="0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1" name="Google Shape;460;p35">
            <a:extLst>
              <a:ext uri="{FF2B5EF4-FFF2-40B4-BE49-F238E27FC236}">
                <a16:creationId xmlns:a16="http://schemas.microsoft.com/office/drawing/2014/main" id="{2A58B5D2-7500-6099-A6F6-F9B5C1E9A056}"/>
              </a:ext>
            </a:extLst>
          </p:cNvPr>
          <p:cNvSpPr txBox="1">
            <a:spLocks/>
          </p:cNvSpPr>
          <p:nvPr/>
        </p:nvSpPr>
        <p:spPr>
          <a:xfrm>
            <a:off x="2917223" y="2579169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en-US" dirty="0"/>
              <a:t>P</a:t>
            </a:r>
            <a:r>
              <a:rPr lang="en-GB" dirty="0"/>
              <a:t>re-processing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apply AI in schools</a:t>
            </a:r>
            <a:endParaRPr/>
          </a:p>
        </p:txBody>
      </p:sp>
      <p:sp>
        <p:nvSpPr>
          <p:cNvPr id="976" name="Google Shape;976;p53"/>
          <p:cNvSpPr txBox="1"/>
          <p:nvPr/>
        </p:nvSpPr>
        <p:spPr>
          <a:xfrm>
            <a:off x="720000" y="1873325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 Card Churn Prediction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7" name="Google Shape;977;p53"/>
          <p:cNvSpPr txBox="1"/>
          <p:nvPr/>
        </p:nvSpPr>
        <p:spPr>
          <a:xfrm>
            <a:off x="496186" y="1412400"/>
            <a:ext cx="2562614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Business Problem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8" name="Google Shape;978;p53"/>
          <p:cNvSpPr txBox="1"/>
          <p:nvPr/>
        </p:nvSpPr>
        <p:spPr>
          <a:xfrm>
            <a:off x="3402600" y="1873325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Gathering insights from relavent graphs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9" name="Google Shape;979;p53"/>
          <p:cNvSpPr txBox="1"/>
          <p:nvPr/>
        </p:nvSpPr>
        <p:spPr>
          <a:xfrm>
            <a:off x="3402600" y="1412400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EDA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0" name="Google Shape;980;p53"/>
          <p:cNvSpPr txBox="1"/>
          <p:nvPr/>
        </p:nvSpPr>
        <p:spPr>
          <a:xfrm>
            <a:off x="6085200" y="1873325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Imputation, scaling, and encoding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1" name="Google Shape;981;p53"/>
          <p:cNvSpPr txBox="1"/>
          <p:nvPr/>
        </p:nvSpPr>
        <p:spPr>
          <a:xfrm>
            <a:off x="6085200" y="1412400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Pre-processing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2" name="Google Shape;982;p53"/>
          <p:cNvSpPr txBox="1"/>
          <p:nvPr/>
        </p:nvSpPr>
        <p:spPr>
          <a:xfrm>
            <a:off x="7200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Adding new advantageous features for model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3" name="Google Shape;983;p53"/>
          <p:cNvSpPr txBox="1"/>
          <p:nvPr/>
        </p:nvSpPr>
        <p:spPr>
          <a:xfrm>
            <a:off x="453656" y="3243543"/>
            <a:ext cx="2740004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Feature engineering</a:t>
            </a:r>
            <a:endParaRPr sz="19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53"/>
          <p:cNvSpPr txBox="1"/>
          <p:nvPr/>
        </p:nvSpPr>
        <p:spPr>
          <a:xfrm>
            <a:off x="34026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Using variety of  algorithms for best prediction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5" name="Google Shape;985;p53"/>
          <p:cNvSpPr txBox="1"/>
          <p:nvPr/>
        </p:nvSpPr>
        <p:spPr>
          <a:xfrm>
            <a:off x="3402600" y="3243543"/>
            <a:ext cx="247366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GB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AI &amp; Modelling</a:t>
            </a:r>
          </a:p>
        </p:txBody>
      </p:sp>
      <p:sp>
        <p:nvSpPr>
          <p:cNvPr id="986" name="Google Shape;986;p53"/>
          <p:cNvSpPr txBox="1"/>
          <p:nvPr/>
        </p:nvSpPr>
        <p:spPr>
          <a:xfrm>
            <a:off x="60852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Selecting Champion Model for real-world prediction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7" name="Google Shape;987;p53"/>
          <p:cNvSpPr txBox="1"/>
          <p:nvPr/>
        </p:nvSpPr>
        <p:spPr>
          <a:xfrm>
            <a:off x="6085200" y="3243543"/>
            <a:ext cx="2605144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Model Evaluation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88" name="Google Shape;988;p53"/>
          <p:cNvCxnSpPr>
            <a:cxnSpLocks/>
            <a:stCxn id="977" idx="3"/>
            <a:endCxn id="979" idx="1"/>
          </p:cNvCxnSpPr>
          <p:nvPr/>
        </p:nvCxnSpPr>
        <p:spPr>
          <a:xfrm>
            <a:off x="3058800" y="1641000"/>
            <a:ext cx="343800" cy="12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89" name="Google Shape;989;p53"/>
          <p:cNvCxnSpPr>
            <a:stCxn id="979" idx="3"/>
            <a:endCxn id="981" idx="1"/>
          </p:cNvCxnSpPr>
          <p:nvPr/>
        </p:nvCxnSpPr>
        <p:spPr>
          <a:xfrm>
            <a:off x="5741400" y="1641000"/>
            <a:ext cx="3438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0" name="Google Shape;990;p53"/>
          <p:cNvCxnSpPr>
            <a:cxnSpLocks/>
            <a:stCxn id="980" idx="2"/>
            <a:endCxn id="983" idx="0"/>
          </p:cNvCxnSpPr>
          <p:nvPr/>
        </p:nvCxnSpPr>
        <p:spPr>
          <a:xfrm rot="5400000">
            <a:off x="4184470" y="173413"/>
            <a:ext cx="709318" cy="543094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1" name="Google Shape;991;p53"/>
          <p:cNvCxnSpPr>
            <a:cxnSpLocks/>
            <a:stCxn id="983" idx="3"/>
            <a:endCxn id="985" idx="1"/>
          </p:cNvCxnSpPr>
          <p:nvPr/>
        </p:nvCxnSpPr>
        <p:spPr>
          <a:xfrm>
            <a:off x="3193660" y="3472143"/>
            <a:ext cx="208940" cy="12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2" name="Google Shape;992;p53"/>
          <p:cNvCxnSpPr>
            <a:cxnSpLocks/>
            <a:stCxn id="985" idx="3"/>
            <a:endCxn id="987" idx="1"/>
          </p:cNvCxnSpPr>
          <p:nvPr/>
        </p:nvCxnSpPr>
        <p:spPr>
          <a:xfrm>
            <a:off x="5876260" y="3472143"/>
            <a:ext cx="208940" cy="12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/>
          <p:cNvSpPr txBox="1">
            <a:spLocks noGrp="1"/>
          </p:cNvSpPr>
          <p:nvPr>
            <p:ph type="title"/>
          </p:nvPr>
        </p:nvSpPr>
        <p:spPr>
          <a:xfrm>
            <a:off x="545669" y="2190308"/>
            <a:ext cx="5353631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GB" sz="3700" dirty="0"/>
              <a:t>Business Problem</a:t>
            </a:r>
          </a:p>
        </p:txBody>
      </p:sp>
      <p:sp>
        <p:nvSpPr>
          <p:cNvPr id="467" name="Google Shape;467;p36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GB" dirty="0"/>
              <a:t>Why customer churn matters?</a:t>
            </a:r>
            <a:endParaRPr dirty="0"/>
          </a:p>
        </p:txBody>
      </p:sp>
      <p:sp>
        <p:nvSpPr>
          <p:cNvPr id="468" name="Google Shape;468;p36"/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69" name="Google Shape;469;p36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/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/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2" name="Google Shape;502;p36"/>
          <p:cNvCxnSpPr>
            <a:stCxn id="467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3" name="Google Shape;503;p36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>
            <a:spLocks noGrp="1"/>
          </p:cNvSpPr>
          <p:nvPr>
            <p:ph type="title"/>
          </p:nvPr>
        </p:nvSpPr>
        <p:spPr>
          <a:xfrm>
            <a:off x="1511085" y="3759737"/>
            <a:ext cx="3580927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—</a:t>
            </a:r>
            <a:r>
              <a:rPr lang="en-GB" dirty="0"/>
              <a:t>axis-intelligence.com</a:t>
            </a:r>
            <a:endParaRPr dirty="0"/>
          </a:p>
        </p:txBody>
      </p:sp>
      <p:sp>
        <p:nvSpPr>
          <p:cNvPr id="532" name="Google Shape;532;p39"/>
          <p:cNvSpPr txBox="1">
            <a:spLocks noGrp="1"/>
          </p:cNvSpPr>
          <p:nvPr>
            <p:ph type="subTitle" idx="1"/>
          </p:nvPr>
        </p:nvSpPr>
        <p:spPr>
          <a:xfrm>
            <a:off x="882242" y="1037726"/>
            <a:ext cx="4371300" cy="2935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" sz="1500" b="1" dirty="0">
                <a:latin typeface="Sora"/>
                <a:cs typeface="Sora"/>
                <a:sym typeface="Sora"/>
              </a:rPr>
              <a:t>“</a:t>
            </a:r>
            <a:r>
              <a:rPr lang="en-GB" sz="1500" b="1" dirty="0">
                <a:latin typeface="Sora"/>
                <a:cs typeface="Sora"/>
                <a:sym typeface="Sora"/>
              </a:rPr>
              <a:t>Approximately 20% of U.S. retail bank customers moved money away from their primary bank within the past three months as of early 2026</a:t>
            </a:r>
            <a:r>
              <a:rPr lang="en" sz="1500" b="1" dirty="0">
                <a:latin typeface="Sora"/>
                <a:cs typeface="Sora"/>
                <a:sym typeface="Sora"/>
              </a:rPr>
              <a:t>”</a:t>
            </a:r>
          </a:p>
          <a:p>
            <a:pPr marL="0" lvl="0" indent="0" algn="l"/>
            <a:endParaRPr lang="en" sz="1500" b="1" dirty="0">
              <a:latin typeface="Sora"/>
              <a:cs typeface="Sora"/>
              <a:sym typeface="Sor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sz="1500" b="1" dirty="0">
                <a:latin typeface="Sora"/>
                <a:cs typeface="Sora"/>
              </a:rPr>
              <a:t>“ </a:t>
            </a:r>
            <a:r>
              <a:rPr lang="en-GB" sz="1500" b="1" dirty="0">
                <a:latin typeface="Sora"/>
                <a:cs typeface="Sora"/>
              </a:rPr>
              <a:t>Studies consistently show that acquiring a new customer can cost five to seven times more than retaining an existing one”</a:t>
            </a:r>
            <a:endParaRPr lang="en-GB" sz="1500" b="1" dirty="0">
              <a:latin typeface="Sora"/>
              <a:cs typeface="Sora"/>
              <a:sym typeface="Sora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" sz="1500" b="1" dirty="0">
              <a:latin typeface="Sora"/>
              <a:cs typeface="Sora"/>
              <a:sym typeface="Sora"/>
            </a:endParaRPr>
          </a:p>
          <a:p>
            <a:pPr marL="0" lvl="0" indent="0" algn="l"/>
            <a:endParaRPr lang="en" sz="1500" b="1" dirty="0">
              <a:latin typeface="Sora"/>
              <a:cs typeface="Sora"/>
              <a:sym typeface="Sora"/>
            </a:endParaRPr>
          </a:p>
        </p:txBody>
      </p:sp>
      <p:grpSp>
        <p:nvGrpSpPr>
          <p:cNvPr id="533" name="Google Shape;533;p39"/>
          <p:cNvGrpSpPr/>
          <p:nvPr/>
        </p:nvGrpSpPr>
        <p:grpSpPr>
          <a:xfrm>
            <a:off x="5824825" y="1527650"/>
            <a:ext cx="2854173" cy="2794752"/>
            <a:chOff x="5824825" y="1527650"/>
            <a:chExt cx="2854173" cy="2794752"/>
          </a:xfrm>
        </p:grpSpPr>
        <p:sp>
          <p:nvSpPr>
            <p:cNvPr id="534" name="Google Shape;534;p39"/>
            <p:cNvSpPr/>
            <p:nvPr/>
          </p:nvSpPr>
          <p:spPr>
            <a:xfrm>
              <a:off x="6851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7477175" y="4122900"/>
              <a:ext cx="1157331" cy="199500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5974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9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538" name="Google Shape;538;p39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219" extrusionOk="0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9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avLst/>
                <a:gdLst/>
                <a:ahLst/>
                <a:cxnLst/>
                <a:rect l="l" t="t" r="r" b="b"/>
                <a:pathLst>
                  <a:path w="7615" h="9634" extrusionOk="0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9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avLst/>
                <a:gdLst/>
                <a:ahLst/>
                <a:cxnLst/>
                <a:rect l="l" t="t" r="r" b="b"/>
                <a:pathLst>
                  <a:path w="13893" h="13894" extrusionOk="0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9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287" extrusionOk="0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9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avLst/>
                <a:gdLst/>
                <a:ahLst/>
                <a:cxnLst/>
                <a:rect l="l" t="t" r="r" b="b"/>
                <a:pathLst>
                  <a:path w="5940" h="7517" extrusionOk="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9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0826" extrusionOk="0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9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0" extrusionOk="0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9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64" extrusionOk="0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9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364" extrusionOk="0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9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63" extrusionOk="0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9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363" extrusionOk="0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9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3" extrusionOk="0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9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364" extrusionOk="0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9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64" extrusionOk="0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9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33097" extrusionOk="0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9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4392" extrusionOk="0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9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avLst/>
                <a:gdLst/>
                <a:ahLst/>
                <a:cxnLst/>
                <a:rect l="l" t="t" r="r" b="b"/>
                <a:pathLst>
                  <a:path w="16201" h="34806" extrusionOk="0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9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26996" extrusionOk="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avLst/>
                <a:gdLst/>
                <a:ahLst/>
                <a:cxnLst/>
                <a:rect l="l" t="t" r="r" b="b"/>
                <a:pathLst>
                  <a:path w="10215" h="13427" extrusionOk="0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avLst/>
                <a:gdLst/>
                <a:ahLst/>
                <a:cxnLst/>
                <a:rect l="l" t="t" r="r" b="b"/>
                <a:pathLst>
                  <a:path w="5317" h="8597" extrusionOk="0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avLst/>
                <a:gdLst/>
                <a:ahLst/>
                <a:cxnLst/>
                <a:rect l="l" t="t" r="r" b="b"/>
                <a:pathLst>
                  <a:path w="20034" h="22617" extrusionOk="0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4449" extrusionOk="0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2298" extrusionOk="0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avLst/>
                <a:gdLst/>
                <a:ahLst/>
                <a:cxnLst/>
                <a:rect l="l" t="t" r="r" b="b"/>
                <a:pathLst>
                  <a:path w="16632" h="4979" extrusionOk="0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avLst/>
                <a:gdLst/>
                <a:ahLst/>
                <a:cxnLst/>
                <a:rect l="l" t="t" r="r" b="b"/>
                <a:pathLst>
                  <a:path w="17220" h="13784" extrusionOk="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avLst/>
                <a:gdLst/>
                <a:ahLst/>
                <a:cxnLst/>
                <a:rect l="l" t="t" r="r" b="b"/>
                <a:pathLst>
                  <a:path w="14187" h="9174" extrusionOk="0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047" extrusionOk="0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91" extrusionOk="0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232" extrusionOk="0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232" extrusionOk="0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4693" h="6176" extrusionOk="0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9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622" extrusionOk="0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9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7086" extrusionOk="0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9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4915" extrusionOk="0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9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4915" extrusionOk="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9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4886" extrusionOk="0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9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912" extrusionOk="0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9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1304" extrusionOk="0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9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14371" extrusionOk="0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9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1330" extrusionOk="0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9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4012" extrusionOk="0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9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3627" extrusionOk="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9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56" extrusionOk="0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9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815" extrusionOk="0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9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64" extrusionOk="0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9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383" extrusionOk="0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9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838" extrusionOk="0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10009" extrusionOk="0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9951" extrusionOk="0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9721" extrusionOk="0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314" extrusionOk="0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9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7235" extrusionOk="0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9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6372" extrusionOk="0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9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911" extrusionOk="0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6176" extrusionOk="0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9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4576" extrusionOk="0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890" extrusionOk="0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6176" extrusionOk="0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1287" extrusionOk="0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avLst/>
                <a:gdLst/>
                <a:ahLst/>
                <a:cxnLst/>
                <a:rect l="l" t="t" r="r" b="b"/>
                <a:pathLst>
                  <a:path w="20575" h="20569" extrusionOk="0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A05F101-1A35-B7E9-CEB9-595A8A80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>
            <a:extLst>
              <a:ext uri="{FF2B5EF4-FFF2-40B4-BE49-F238E27FC236}">
                <a16:creationId xmlns:a16="http://schemas.microsoft.com/office/drawing/2014/main" id="{121584C2-B5E9-2A58-4E6A-9BCA119415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71016" y="2172196"/>
            <a:ext cx="6228325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GB" sz="2800" dirty="0"/>
              <a:t>Understanding the Data </a:t>
            </a:r>
            <a:br>
              <a:rPr lang="en-GB" sz="2800" dirty="0"/>
            </a:br>
            <a:r>
              <a:rPr lang="en-GB" sz="2800" dirty="0"/>
              <a:t>&amp; EDA</a:t>
            </a:r>
          </a:p>
        </p:txBody>
      </p:sp>
      <p:sp>
        <p:nvSpPr>
          <p:cNvPr id="467" name="Google Shape;467;p36">
            <a:extLst>
              <a:ext uri="{FF2B5EF4-FFF2-40B4-BE49-F238E27FC236}">
                <a16:creationId xmlns:a16="http://schemas.microsoft.com/office/drawing/2014/main" id="{96341060-F38C-C1C2-C0B8-D99018A0C0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dirty="0"/>
              <a:t>H</a:t>
            </a:r>
            <a:r>
              <a:rPr lang="en-GB" dirty="0"/>
              <a:t>ow does the data look like?</a:t>
            </a:r>
            <a:endParaRPr dirty="0"/>
          </a:p>
        </p:txBody>
      </p:sp>
      <p:sp>
        <p:nvSpPr>
          <p:cNvPr id="468" name="Google Shape;468;p36">
            <a:extLst>
              <a:ext uri="{FF2B5EF4-FFF2-40B4-BE49-F238E27FC236}">
                <a16:creationId xmlns:a16="http://schemas.microsoft.com/office/drawing/2014/main" id="{52D94FCB-CF64-A8A3-69D5-8BC4E90FD6C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69" name="Google Shape;469;p36">
            <a:extLst>
              <a:ext uri="{FF2B5EF4-FFF2-40B4-BE49-F238E27FC236}">
                <a16:creationId xmlns:a16="http://schemas.microsoft.com/office/drawing/2014/main" id="{5EB05DD8-3D19-2023-B973-8F8E6D4A4A6F}"/>
              </a:ext>
            </a:extLst>
          </p:cNvPr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>
              <a:extLst>
                <a:ext uri="{FF2B5EF4-FFF2-40B4-BE49-F238E27FC236}">
                  <a16:creationId xmlns:a16="http://schemas.microsoft.com/office/drawing/2014/main" id="{D7F09848-616C-FE69-0906-52161791ECE0}"/>
                </a:ext>
              </a:extLst>
            </p:cNvPr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>
              <a:extLst>
                <a:ext uri="{FF2B5EF4-FFF2-40B4-BE49-F238E27FC236}">
                  <a16:creationId xmlns:a16="http://schemas.microsoft.com/office/drawing/2014/main" id="{C0EDA07A-8E26-AEDA-65CD-08FF48EC8135}"/>
                </a:ext>
              </a:extLst>
            </p:cNvPr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>
              <a:extLst>
                <a:ext uri="{FF2B5EF4-FFF2-40B4-BE49-F238E27FC236}">
                  <a16:creationId xmlns:a16="http://schemas.microsoft.com/office/drawing/2014/main" id="{48C59C54-A72A-6FA4-48D4-743A4F017F08}"/>
                </a:ext>
              </a:extLst>
            </p:cNvPr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>
                <a:extLst>
                  <a:ext uri="{FF2B5EF4-FFF2-40B4-BE49-F238E27FC236}">
                    <a16:creationId xmlns:a16="http://schemas.microsoft.com/office/drawing/2014/main" id="{1F7EE275-8447-BB40-8975-470D8C4586AD}"/>
                  </a:ext>
                </a:extLst>
              </p:cNvPr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>
                <a:extLst>
                  <a:ext uri="{FF2B5EF4-FFF2-40B4-BE49-F238E27FC236}">
                    <a16:creationId xmlns:a16="http://schemas.microsoft.com/office/drawing/2014/main" id="{BAE9AAAE-8E29-8F82-46A3-49266381C4C4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>
                <a:extLst>
                  <a:ext uri="{FF2B5EF4-FFF2-40B4-BE49-F238E27FC236}">
                    <a16:creationId xmlns:a16="http://schemas.microsoft.com/office/drawing/2014/main" id="{A06058F5-5B0B-7165-ECEF-6B82438B1D97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>
                <a:extLst>
                  <a:ext uri="{FF2B5EF4-FFF2-40B4-BE49-F238E27FC236}">
                    <a16:creationId xmlns:a16="http://schemas.microsoft.com/office/drawing/2014/main" id="{AE085DA6-316A-3346-0C92-AB202BDC66AE}"/>
                  </a:ext>
                </a:extLst>
              </p:cNvPr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>
                <a:extLst>
                  <a:ext uri="{FF2B5EF4-FFF2-40B4-BE49-F238E27FC236}">
                    <a16:creationId xmlns:a16="http://schemas.microsoft.com/office/drawing/2014/main" id="{8077731F-7D64-2097-E7F9-612F9C8082E2}"/>
                  </a:ext>
                </a:extLst>
              </p:cNvPr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>
              <a:extLst>
                <a:ext uri="{FF2B5EF4-FFF2-40B4-BE49-F238E27FC236}">
                  <a16:creationId xmlns:a16="http://schemas.microsoft.com/office/drawing/2014/main" id="{F531DD9D-0473-9A5C-9C22-0A605346B0C6}"/>
                </a:ext>
              </a:extLst>
            </p:cNvPr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>
                <a:extLst>
                  <a:ext uri="{FF2B5EF4-FFF2-40B4-BE49-F238E27FC236}">
                    <a16:creationId xmlns:a16="http://schemas.microsoft.com/office/drawing/2014/main" id="{880681C1-0292-6FB0-9A23-003BEC81737C}"/>
                  </a:ext>
                </a:extLst>
              </p:cNvPr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>
                  <a:extLst>
                    <a:ext uri="{FF2B5EF4-FFF2-40B4-BE49-F238E27FC236}">
                      <a16:creationId xmlns:a16="http://schemas.microsoft.com/office/drawing/2014/main" id="{78A74EB0-11F6-D64E-3130-E623A82DD5B6}"/>
                    </a:ext>
                  </a:extLst>
                </p:cNvPr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>
                  <a:extLst>
                    <a:ext uri="{FF2B5EF4-FFF2-40B4-BE49-F238E27FC236}">
                      <a16:creationId xmlns:a16="http://schemas.microsoft.com/office/drawing/2014/main" id="{2BB0DC75-873D-C787-70FE-6A61229155D9}"/>
                    </a:ext>
                  </a:extLst>
                </p:cNvPr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>
                <a:extLst>
                  <a:ext uri="{FF2B5EF4-FFF2-40B4-BE49-F238E27FC236}">
                    <a16:creationId xmlns:a16="http://schemas.microsoft.com/office/drawing/2014/main" id="{A89FCE8D-A372-2E57-836C-B17DD49735EE}"/>
                  </a:ext>
                </a:extLst>
              </p:cNvPr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>
              <a:extLst>
                <a:ext uri="{FF2B5EF4-FFF2-40B4-BE49-F238E27FC236}">
                  <a16:creationId xmlns:a16="http://schemas.microsoft.com/office/drawing/2014/main" id="{64A17A23-B2C3-F5AE-AF48-1A9E5B1D1AEC}"/>
                </a:ext>
              </a:extLst>
            </p:cNvPr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>
                <a:extLst>
                  <a:ext uri="{FF2B5EF4-FFF2-40B4-BE49-F238E27FC236}">
                    <a16:creationId xmlns:a16="http://schemas.microsoft.com/office/drawing/2014/main" id="{1E51D6FC-6713-3B81-2695-A64CF8179EB9}"/>
                  </a:ext>
                </a:extLst>
              </p:cNvPr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>
                <a:extLst>
                  <a:ext uri="{FF2B5EF4-FFF2-40B4-BE49-F238E27FC236}">
                    <a16:creationId xmlns:a16="http://schemas.microsoft.com/office/drawing/2014/main" id="{4D0B0F48-ECD0-B39D-2460-DF5E6DE74DA1}"/>
                  </a:ext>
                </a:extLst>
              </p:cNvPr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>
                <a:extLst>
                  <a:ext uri="{FF2B5EF4-FFF2-40B4-BE49-F238E27FC236}">
                    <a16:creationId xmlns:a16="http://schemas.microsoft.com/office/drawing/2014/main" id="{DA351FCD-32D8-3E5D-D9D5-F43B8307EC0D}"/>
                  </a:ext>
                </a:extLst>
              </p:cNvPr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>
              <a:extLst>
                <a:ext uri="{FF2B5EF4-FFF2-40B4-BE49-F238E27FC236}">
                  <a16:creationId xmlns:a16="http://schemas.microsoft.com/office/drawing/2014/main" id="{A4BE66A9-0158-E118-CE93-8B150DC48EFC}"/>
                </a:ext>
              </a:extLst>
            </p:cNvPr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>
                <a:extLst>
                  <a:ext uri="{FF2B5EF4-FFF2-40B4-BE49-F238E27FC236}">
                    <a16:creationId xmlns:a16="http://schemas.microsoft.com/office/drawing/2014/main" id="{104A3177-06DF-C438-F812-1613BB311B85}"/>
                  </a:ext>
                </a:extLst>
              </p:cNvPr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>
                <a:extLst>
                  <a:ext uri="{FF2B5EF4-FFF2-40B4-BE49-F238E27FC236}">
                    <a16:creationId xmlns:a16="http://schemas.microsoft.com/office/drawing/2014/main" id="{C243469F-4D79-4813-08E4-1EF536D7A0F9}"/>
                  </a:ext>
                </a:extLst>
              </p:cNvPr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>
                <a:extLst>
                  <a:ext uri="{FF2B5EF4-FFF2-40B4-BE49-F238E27FC236}">
                    <a16:creationId xmlns:a16="http://schemas.microsoft.com/office/drawing/2014/main" id="{B1D60C66-4712-3D4F-D146-F5E7D44B6F80}"/>
                  </a:ext>
                </a:extLst>
              </p:cNvPr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>
              <a:extLst>
                <a:ext uri="{FF2B5EF4-FFF2-40B4-BE49-F238E27FC236}">
                  <a16:creationId xmlns:a16="http://schemas.microsoft.com/office/drawing/2014/main" id="{94480DBF-1FDF-D635-8E81-164DA38301A9}"/>
                </a:ext>
              </a:extLst>
            </p:cNvPr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>
              <a:extLst>
                <a:ext uri="{FF2B5EF4-FFF2-40B4-BE49-F238E27FC236}">
                  <a16:creationId xmlns:a16="http://schemas.microsoft.com/office/drawing/2014/main" id="{A236B636-8AD9-BAE4-BF22-30F2FD8F1D75}"/>
                </a:ext>
              </a:extLst>
            </p:cNvPr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>
              <a:extLst>
                <a:ext uri="{FF2B5EF4-FFF2-40B4-BE49-F238E27FC236}">
                  <a16:creationId xmlns:a16="http://schemas.microsoft.com/office/drawing/2014/main" id="{69F58DA5-B90A-E70A-73D0-EC6D49015CAF}"/>
                </a:ext>
              </a:extLst>
            </p:cNvPr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>
              <a:extLst>
                <a:ext uri="{FF2B5EF4-FFF2-40B4-BE49-F238E27FC236}">
                  <a16:creationId xmlns:a16="http://schemas.microsoft.com/office/drawing/2014/main" id="{DB9EDA85-FD1D-6BC1-B4CB-BD4D67EAA397}"/>
                </a:ext>
              </a:extLst>
            </p:cNvPr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>
                <a:extLst>
                  <a:ext uri="{FF2B5EF4-FFF2-40B4-BE49-F238E27FC236}">
                    <a16:creationId xmlns:a16="http://schemas.microsoft.com/office/drawing/2014/main" id="{34651609-E414-1A79-ECA9-C338F8E81FFE}"/>
                  </a:ext>
                </a:extLst>
              </p:cNvPr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>
                <a:extLst>
                  <a:ext uri="{FF2B5EF4-FFF2-40B4-BE49-F238E27FC236}">
                    <a16:creationId xmlns:a16="http://schemas.microsoft.com/office/drawing/2014/main" id="{9F9252B4-A128-29E7-69F6-DAAEF127DB23}"/>
                  </a:ext>
                </a:extLst>
              </p:cNvPr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>
                <a:extLst>
                  <a:ext uri="{FF2B5EF4-FFF2-40B4-BE49-F238E27FC236}">
                    <a16:creationId xmlns:a16="http://schemas.microsoft.com/office/drawing/2014/main" id="{2555F84E-BC1D-587F-8F0F-2D282EA00477}"/>
                  </a:ext>
                </a:extLst>
              </p:cNvPr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>
              <a:extLst>
                <a:ext uri="{FF2B5EF4-FFF2-40B4-BE49-F238E27FC236}">
                  <a16:creationId xmlns:a16="http://schemas.microsoft.com/office/drawing/2014/main" id="{BC788AF6-9958-D7EE-7F5B-B20B4452537A}"/>
                </a:ext>
              </a:extLst>
            </p:cNvPr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>
                <a:extLst>
                  <a:ext uri="{FF2B5EF4-FFF2-40B4-BE49-F238E27FC236}">
                    <a16:creationId xmlns:a16="http://schemas.microsoft.com/office/drawing/2014/main" id="{2F71E221-67ED-6AEB-4F0C-D124124D6BF4}"/>
                  </a:ext>
                </a:extLst>
              </p:cNvPr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>
                <a:extLst>
                  <a:ext uri="{FF2B5EF4-FFF2-40B4-BE49-F238E27FC236}">
                    <a16:creationId xmlns:a16="http://schemas.microsoft.com/office/drawing/2014/main" id="{C1818656-7EF2-294D-A6C2-BC10758FCE21}"/>
                  </a:ext>
                </a:extLst>
              </p:cNvPr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>
                <a:extLst>
                  <a:ext uri="{FF2B5EF4-FFF2-40B4-BE49-F238E27FC236}">
                    <a16:creationId xmlns:a16="http://schemas.microsoft.com/office/drawing/2014/main" id="{70612E41-2869-7066-E878-900B252DC58D}"/>
                  </a:ext>
                </a:extLst>
              </p:cNvPr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2" name="Google Shape;502;p36">
            <a:extLst>
              <a:ext uri="{FF2B5EF4-FFF2-40B4-BE49-F238E27FC236}">
                <a16:creationId xmlns:a16="http://schemas.microsoft.com/office/drawing/2014/main" id="{5CFCA0D8-A123-C3BA-5102-AA12560F5F6F}"/>
              </a:ext>
            </a:extLst>
          </p:cNvPr>
          <p:cNvCxnSpPr>
            <a:stCxn id="467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3" name="Google Shape;503;p36">
            <a:extLst>
              <a:ext uri="{FF2B5EF4-FFF2-40B4-BE49-F238E27FC236}">
                <a16:creationId xmlns:a16="http://schemas.microsoft.com/office/drawing/2014/main" id="{0E4DD891-5F7F-EEE0-080E-E40355957F69}"/>
              </a:ext>
            </a:extLst>
          </p:cNvPr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52400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/>
          <p:cNvSpPr txBox="1">
            <a:spLocks noGrp="1"/>
          </p:cNvSpPr>
          <p:nvPr>
            <p:ph type="title"/>
          </p:nvPr>
        </p:nvSpPr>
        <p:spPr>
          <a:xfrm>
            <a:off x="786489" y="3864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3200" dirty="0"/>
              <a:t>Data Exploration &amp; EDA</a:t>
            </a:r>
            <a:endParaRPr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6B5B45-9CAB-144A-6E08-92804248D1EB}"/>
              </a:ext>
            </a:extLst>
          </p:cNvPr>
          <p:cNvSpPr/>
          <p:nvPr/>
        </p:nvSpPr>
        <p:spPr>
          <a:xfrm>
            <a:off x="836909" y="1013366"/>
            <a:ext cx="2353160" cy="10469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  <a:t>20,000</a:t>
            </a:r>
            <a:b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</a:br>
            <a: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  <a:t>Customers analysed</a:t>
            </a:r>
            <a:endParaRPr lang="en-GB" sz="1500" b="1" dirty="0">
              <a:solidFill>
                <a:schemeClr val="accent2"/>
              </a:solidFill>
              <a:latin typeface="Sora"/>
              <a:cs typeface="Sora"/>
              <a:sym typeface="Sora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DCA4EF-7AF4-CC6A-A7A6-A42242E5D384}"/>
              </a:ext>
            </a:extLst>
          </p:cNvPr>
          <p:cNvSpPr/>
          <p:nvPr/>
        </p:nvSpPr>
        <p:spPr>
          <a:xfrm>
            <a:off x="836909" y="2198830"/>
            <a:ext cx="2353160" cy="10469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  <a:t>60</a:t>
            </a:r>
            <a:b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</a:br>
            <a: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  <a:t>Features including target</a:t>
            </a:r>
            <a:endParaRPr lang="en-GB" sz="1500" b="1" dirty="0">
              <a:solidFill>
                <a:schemeClr val="accent2"/>
              </a:solidFill>
              <a:latin typeface="Sora"/>
              <a:cs typeface="Sora"/>
              <a:sym typeface="Sora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15C99A-FB44-2498-BB8B-815DD96D40B8}"/>
              </a:ext>
            </a:extLst>
          </p:cNvPr>
          <p:cNvSpPr/>
          <p:nvPr/>
        </p:nvSpPr>
        <p:spPr>
          <a:xfrm>
            <a:off x="836909" y="3443860"/>
            <a:ext cx="2353160" cy="10469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  <a:t>Churn</a:t>
            </a:r>
            <a:b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</a:br>
            <a:r>
              <a:rPr lang="en-GB" sz="1500" b="1" dirty="0">
                <a:solidFill>
                  <a:schemeClr val="accent2"/>
                </a:solidFill>
                <a:latin typeface="Sora"/>
                <a:cs typeface="Sora"/>
              </a:rPr>
              <a:t>Target variable</a:t>
            </a:r>
            <a:endParaRPr lang="en-GB" sz="1500" b="1" dirty="0">
              <a:solidFill>
                <a:schemeClr val="accent2"/>
              </a:solidFill>
              <a:latin typeface="Sora"/>
              <a:cs typeface="Sora"/>
              <a:sym typeface="Sor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4761DD-0D33-92DE-5239-4DBFD77E3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509" y="1255764"/>
            <a:ext cx="2775410" cy="2775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9C572FF7-4373-B61F-648F-BC339561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>
            <a:extLst>
              <a:ext uri="{FF2B5EF4-FFF2-40B4-BE49-F238E27FC236}">
                <a16:creationId xmlns:a16="http://schemas.microsoft.com/office/drawing/2014/main" id="{CFEC05E4-8274-FA90-31A5-4E23EAA61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489" y="3864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Trends &amp; Insights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69C4BC-A2F0-4714-1945-51EEC605F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060" y="1447512"/>
            <a:ext cx="3961531" cy="2821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A10B35-92FF-BBF8-D400-79B9EBAAF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81" y="1176292"/>
            <a:ext cx="4572000" cy="1328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BC104A-0175-F9A9-B624-496B07ECE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278" y="2799882"/>
            <a:ext cx="2647553" cy="19571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633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2" name="Google Shape;502;p36"/>
          <p:cNvCxnSpPr>
            <a:stCxn id="467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66" name="Google Shape;466;p36"/>
          <p:cNvSpPr txBox="1">
            <a:spLocks noGrp="1"/>
          </p:cNvSpPr>
          <p:nvPr>
            <p:ph type="title"/>
          </p:nvPr>
        </p:nvSpPr>
        <p:spPr>
          <a:xfrm>
            <a:off x="-516841" y="1480156"/>
            <a:ext cx="5542801" cy="1472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4400" dirty="0"/>
              <a:t>P</a:t>
            </a:r>
            <a:r>
              <a:rPr lang="en-GB" sz="4000" dirty="0"/>
              <a:t>re-processing</a:t>
            </a:r>
          </a:p>
        </p:txBody>
      </p:sp>
      <p:sp>
        <p:nvSpPr>
          <p:cNvPr id="467" name="Google Shape;467;p36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clean the dataset?</a:t>
            </a:r>
            <a:endParaRPr dirty="0"/>
          </a:p>
        </p:txBody>
      </p:sp>
      <p:sp>
        <p:nvSpPr>
          <p:cNvPr id="468" name="Google Shape;468;p36"/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69" name="Google Shape;469;p36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/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/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3" name="Google Shape;503;p36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7D42AA9A-5818-D1FD-1093-CEBF3631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>
            <a:extLst>
              <a:ext uri="{FF2B5EF4-FFF2-40B4-BE49-F238E27FC236}">
                <a16:creationId xmlns:a16="http://schemas.microsoft.com/office/drawing/2014/main" id="{9ED5DBDA-68DA-9550-D293-71DFFC522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489" y="3864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Pre-processing</a:t>
            </a:r>
            <a:endParaRPr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B87890E-C41A-F0C6-5257-A20EAAE660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7287477"/>
              </p:ext>
            </p:extLst>
          </p:nvPr>
        </p:nvGraphicFramePr>
        <p:xfrm>
          <a:off x="738082" y="1091729"/>
          <a:ext cx="3900407" cy="3665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 descr="Medium">
            <a:extLst>
              <a:ext uri="{FF2B5EF4-FFF2-40B4-BE49-F238E27FC236}">
                <a16:creationId xmlns:a16="http://schemas.microsoft.com/office/drawing/2014/main" id="{7B694BAC-7A1B-3638-F75F-57C0BD6E35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2050" y="1727419"/>
            <a:ext cx="3730859" cy="23939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0288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75F5D9BC-E7A4-C99E-F906-06429830A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2" name="Google Shape;502;p36">
            <a:extLst>
              <a:ext uri="{FF2B5EF4-FFF2-40B4-BE49-F238E27FC236}">
                <a16:creationId xmlns:a16="http://schemas.microsoft.com/office/drawing/2014/main" id="{40AF52C5-48FE-6AD5-21F1-3BAC23735ACD}"/>
              </a:ext>
            </a:extLst>
          </p:cNvPr>
          <p:cNvCxnSpPr>
            <a:stCxn id="467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66" name="Google Shape;466;p36">
            <a:extLst>
              <a:ext uri="{FF2B5EF4-FFF2-40B4-BE49-F238E27FC236}">
                <a16:creationId xmlns:a16="http://schemas.microsoft.com/office/drawing/2014/main" id="{73345B81-DD2B-95B0-401B-5637D4CF9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74760" y="1950376"/>
            <a:ext cx="5542801" cy="1472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sz="4000" dirty="0"/>
              <a:t> Modelling &amp; Evaluation</a:t>
            </a:r>
          </a:p>
        </p:txBody>
      </p:sp>
      <p:sp>
        <p:nvSpPr>
          <p:cNvPr id="467" name="Google Shape;467;p36">
            <a:extLst>
              <a:ext uri="{FF2B5EF4-FFF2-40B4-BE49-F238E27FC236}">
                <a16:creationId xmlns:a16="http://schemas.microsoft.com/office/drawing/2014/main" id="{CCB77DD5-E92C-9A8B-BF5D-476FE192A5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Which models turned out the best?</a:t>
            </a:r>
            <a:endParaRPr dirty="0"/>
          </a:p>
        </p:txBody>
      </p:sp>
      <p:sp>
        <p:nvSpPr>
          <p:cNvPr id="468" name="Google Shape;468;p36">
            <a:extLst>
              <a:ext uri="{FF2B5EF4-FFF2-40B4-BE49-F238E27FC236}">
                <a16:creationId xmlns:a16="http://schemas.microsoft.com/office/drawing/2014/main" id="{1C470718-8883-AA0D-E0C5-45C122968A5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69" name="Google Shape;469;p36">
            <a:extLst>
              <a:ext uri="{FF2B5EF4-FFF2-40B4-BE49-F238E27FC236}">
                <a16:creationId xmlns:a16="http://schemas.microsoft.com/office/drawing/2014/main" id="{4871C61B-214D-5046-EFD7-0525CD314E87}"/>
              </a:ext>
            </a:extLst>
          </p:cNvPr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470" name="Google Shape;470;p36">
              <a:extLst>
                <a:ext uri="{FF2B5EF4-FFF2-40B4-BE49-F238E27FC236}">
                  <a16:creationId xmlns:a16="http://schemas.microsoft.com/office/drawing/2014/main" id="{49F6D5AB-115C-7974-E6CE-0C753A632D06}"/>
                </a:ext>
              </a:extLst>
            </p:cNvPr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>
              <a:extLst>
                <a:ext uri="{FF2B5EF4-FFF2-40B4-BE49-F238E27FC236}">
                  <a16:creationId xmlns:a16="http://schemas.microsoft.com/office/drawing/2014/main" id="{8202C616-0FD8-419E-BE7F-0B493FE733AD}"/>
                </a:ext>
              </a:extLst>
            </p:cNvPr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36">
              <a:extLst>
                <a:ext uri="{FF2B5EF4-FFF2-40B4-BE49-F238E27FC236}">
                  <a16:creationId xmlns:a16="http://schemas.microsoft.com/office/drawing/2014/main" id="{927A4B0D-2F3F-7D8E-69C2-B3D2FA3ACC79}"/>
                </a:ext>
              </a:extLst>
            </p:cNvPr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473" name="Google Shape;473;p36">
                <a:extLst>
                  <a:ext uri="{FF2B5EF4-FFF2-40B4-BE49-F238E27FC236}">
                    <a16:creationId xmlns:a16="http://schemas.microsoft.com/office/drawing/2014/main" id="{E9F2ED5C-CAA0-3C5A-2CD8-4B6F1CCF13A5}"/>
                  </a:ext>
                </a:extLst>
              </p:cNvPr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6">
                <a:extLst>
                  <a:ext uri="{FF2B5EF4-FFF2-40B4-BE49-F238E27FC236}">
                    <a16:creationId xmlns:a16="http://schemas.microsoft.com/office/drawing/2014/main" id="{BBE13661-6C8B-C69C-E3E2-5CC9DD4F1907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6">
                <a:extLst>
                  <a:ext uri="{FF2B5EF4-FFF2-40B4-BE49-F238E27FC236}">
                    <a16:creationId xmlns:a16="http://schemas.microsoft.com/office/drawing/2014/main" id="{5BB97553-7B61-3135-D1DD-903D3A9AFE5F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6">
                <a:extLst>
                  <a:ext uri="{FF2B5EF4-FFF2-40B4-BE49-F238E27FC236}">
                    <a16:creationId xmlns:a16="http://schemas.microsoft.com/office/drawing/2014/main" id="{74E8DB2F-8DB9-61DA-B9C1-7655943B78E5}"/>
                  </a:ext>
                </a:extLst>
              </p:cNvPr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6">
                <a:extLst>
                  <a:ext uri="{FF2B5EF4-FFF2-40B4-BE49-F238E27FC236}">
                    <a16:creationId xmlns:a16="http://schemas.microsoft.com/office/drawing/2014/main" id="{63C918C1-3280-06B4-1960-59B46D84DA79}"/>
                  </a:ext>
                </a:extLst>
              </p:cNvPr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36">
              <a:extLst>
                <a:ext uri="{FF2B5EF4-FFF2-40B4-BE49-F238E27FC236}">
                  <a16:creationId xmlns:a16="http://schemas.microsoft.com/office/drawing/2014/main" id="{079D2C15-5F77-B7D3-789F-C6510E61AC50}"/>
                </a:ext>
              </a:extLst>
            </p:cNvPr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479" name="Google Shape;479;p36">
                <a:extLst>
                  <a:ext uri="{FF2B5EF4-FFF2-40B4-BE49-F238E27FC236}">
                    <a16:creationId xmlns:a16="http://schemas.microsoft.com/office/drawing/2014/main" id="{A220F60C-C2D2-EEC5-42A6-39D91AEE2690}"/>
                  </a:ext>
                </a:extLst>
              </p:cNvPr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480" name="Google Shape;480;p36">
                  <a:extLst>
                    <a:ext uri="{FF2B5EF4-FFF2-40B4-BE49-F238E27FC236}">
                      <a16:creationId xmlns:a16="http://schemas.microsoft.com/office/drawing/2014/main" id="{602A4B74-53BB-5595-97BD-B74A167E7AFB}"/>
                    </a:ext>
                  </a:extLst>
                </p:cNvPr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36">
                  <a:extLst>
                    <a:ext uri="{FF2B5EF4-FFF2-40B4-BE49-F238E27FC236}">
                      <a16:creationId xmlns:a16="http://schemas.microsoft.com/office/drawing/2014/main" id="{C9B1B20E-DC90-5B60-A68B-AC586D290E3F}"/>
                    </a:ext>
                  </a:extLst>
                </p:cNvPr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2" name="Google Shape;482;p36">
                <a:extLst>
                  <a:ext uri="{FF2B5EF4-FFF2-40B4-BE49-F238E27FC236}">
                    <a16:creationId xmlns:a16="http://schemas.microsoft.com/office/drawing/2014/main" id="{5622FEB9-5AF3-FADE-90B3-EB2170AD9E12}"/>
                  </a:ext>
                </a:extLst>
              </p:cNvPr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36">
              <a:extLst>
                <a:ext uri="{FF2B5EF4-FFF2-40B4-BE49-F238E27FC236}">
                  <a16:creationId xmlns:a16="http://schemas.microsoft.com/office/drawing/2014/main" id="{A7947F47-0B81-D046-042A-BC46C03A63A2}"/>
                </a:ext>
              </a:extLst>
            </p:cNvPr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484" name="Google Shape;484;p36">
                <a:extLst>
                  <a:ext uri="{FF2B5EF4-FFF2-40B4-BE49-F238E27FC236}">
                    <a16:creationId xmlns:a16="http://schemas.microsoft.com/office/drawing/2014/main" id="{BC4582C3-E297-17A7-8758-BCD8CAF00671}"/>
                  </a:ext>
                </a:extLst>
              </p:cNvPr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6">
                <a:extLst>
                  <a:ext uri="{FF2B5EF4-FFF2-40B4-BE49-F238E27FC236}">
                    <a16:creationId xmlns:a16="http://schemas.microsoft.com/office/drawing/2014/main" id="{32FB2B6B-46CA-7D2D-21F1-3005EDE62A97}"/>
                  </a:ext>
                </a:extLst>
              </p:cNvPr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6">
                <a:extLst>
                  <a:ext uri="{FF2B5EF4-FFF2-40B4-BE49-F238E27FC236}">
                    <a16:creationId xmlns:a16="http://schemas.microsoft.com/office/drawing/2014/main" id="{AD8301D6-38E4-716F-A167-A892CAD9A318}"/>
                  </a:ext>
                </a:extLst>
              </p:cNvPr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36">
              <a:extLst>
                <a:ext uri="{FF2B5EF4-FFF2-40B4-BE49-F238E27FC236}">
                  <a16:creationId xmlns:a16="http://schemas.microsoft.com/office/drawing/2014/main" id="{099934CE-87C8-FEA5-CE01-80DD5C4716C7}"/>
                </a:ext>
              </a:extLst>
            </p:cNvPr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488" name="Google Shape;488;p36">
                <a:extLst>
                  <a:ext uri="{FF2B5EF4-FFF2-40B4-BE49-F238E27FC236}">
                    <a16:creationId xmlns:a16="http://schemas.microsoft.com/office/drawing/2014/main" id="{1AB7CBBA-F700-2793-B75B-690F9E32F08C}"/>
                  </a:ext>
                </a:extLst>
              </p:cNvPr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6">
                <a:extLst>
                  <a:ext uri="{FF2B5EF4-FFF2-40B4-BE49-F238E27FC236}">
                    <a16:creationId xmlns:a16="http://schemas.microsoft.com/office/drawing/2014/main" id="{2205F76D-F889-29DF-720F-7EDE69332DEB}"/>
                  </a:ext>
                </a:extLst>
              </p:cNvPr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>
                <a:extLst>
                  <a:ext uri="{FF2B5EF4-FFF2-40B4-BE49-F238E27FC236}">
                    <a16:creationId xmlns:a16="http://schemas.microsoft.com/office/drawing/2014/main" id="{0C9BA3E8-7FD7-8ABE-BAEC-DC7B0FB160B1}"/>
                  </a:ext>
                </a:extLst>
              </p:cNvPr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36">
              <a:extLst>
                <a:ext uri="{FF2B5EF4-FFF2-40B4-BE49-F238E27FC236}">
                  <a16:creationId xmlns:a16="http://schemas.microsoft.com/office/drawing/2014/main" id="{E1CA9CDC-2869-D7F2-50A5-487A024E4221}"/>
                </a:ext>
              </a:extLst>
            </p:cNvPr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>
              <a:extLst>
                <a:ext uri="{FF2B5EF4-FFF2-40B4-BE49-F238E27FC236}">
                  <a16:creationId xmlns:a16="http://schemas.microsoft.com/office/drawing/2014/main" id="{18975CB6-1365-B7EB-798C-2497F9748226}"/>
                </a:ext>
              </a:extLst>
            </p:cNvPr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>
              <a:extLst>
                <a:ext uri="{FF2B5EF4-FFF2-40B4-BE49-F238E27FC236}">
                  <a16:creationId xmlns:a16="http://schemas.microsoft.com/office/drawing/2014/main" id="{A5B55692-1C06-9A37-7B4E-F16F952ED370}"/>
                </a:ext>
              </a:extLst>
            </p:cNvPr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4" name="Google Shape;494;p36">
              <a:extLst>
                <a:ext uri="{FF2B5EF4-FFF2-40B4-BE49-F238E27FC236}">
                  <a16:creationId xmlns:a16="http://schemas.microsoft.com/office/drawing/2014/main" id="{519C28B9-590D-B976-DB71-414E2095F501}"/>
                </a:ext>
              </a:extLst>
            </p:cNvPr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495" name="Google Shape;495;p36">
                <a:extLst>
                  <a:ext uri="{FF2B5EF4-FFF2-40B4-BE49-F238E27FC236}">
                    <a16:creationId xmlns:a16="http://schemas.microsoft.com/office/drawing/2014/main" id="{D6DF9309-3B71-5180-6286-40C72FBD97E8}"/>
                  </a:ext>
                </a:extLst>
              </p:cNvPr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>
                <a:extLst>
                  <a:ext uri="{FF2B5EF4-FFF2-40B4-BE49-F238E27FC236}">
                    <a16:creationId xmlns:a16="http://schemas.microsoft.com/office/drawing/2014/main" id="{69294C11-B83D-58F0-015E-B1192A57E7BE}"/>
                  </a:ext>
                </a:extLst>
              </p:cNvPr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>
                <a:extLst>
                  <a:ext uri="{FF2B5EF4-FFF2-40B4-BE49-F238E27FC236}">
                    <a16:creationId xmlns:a16="http://schemas.microsoft.com/office/drawing/2014/main" id="{C20F0CA5-9985-2DA7-A469-A94FE7FBFB6B}"/>
                  </a:ext>
                </a:extLst>
              </p:cNvPr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" name="Google Shape;498;p36">
              <a:extLst>
                <a:ext uri="{FF2B5EF4-FFF2-40B4-BE49-F238E27FC236}">
                  <a16:creationId xmlns:a16="http://schemas.microsoft.com/office/drawing/2014/main" id="{2B041740-6903-C652-08C6-54302E7C8E72}"/>
                </a:ext>
              </a:extLst>
            </p:cNvPr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499" name="Google Shape;499;p36">
                <a:extLst>
                  <a:ext uri="{FF2B5EF4-FFF2-40B4-BE49-F238E27FC236}">
                    <a16:creationId xmlns:a16="http://schemas.microsoft.com/office/drawing/2014/main" id="{46471B4F-486C-7492-A763-B98E9EB19D47}"/>
                  </a:ext>
                </a:extLst>
              </p:cNvPr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>
                <a:extLst>
                  <a:ext uri="{FF2B5EF4-FFF2-40B4-BE49-F238E27FC236}">
                    <a16:creationId xmlns:a16="http://schemas.microsoft.com/office/drawing/2014/main" id="{F8F7D3BE-9CC9-8ED2-1DFD-B3A90D29151E}"/>
                  </a:ext>
                </a:extLst>
              </p:cNvPr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>
                <a:extLst>
                  <a:ext uri="{FF2B5EF4-FFF2-40B4-BE49-F238E27FC236}">
                    <a16:creationId xmlns:a16="http://schemas.microsoft.com/office/drawing/2014/main" id="{272CF405-BE47-4966-FF90-850C060235E2}"/>
                  </a:ext>
                </a:extLst>
              </p:cNvPr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3" name="Google Shape;503;p36">
            <a:extLst>
              <a:ext uri="{FF2B5EF4-FFF2-40B4-BE49-F238E27FC236}">
                <a16:creationId xmlns:a16="http://schemas.microsoft.com/office/drawing/2014/main" id="{810E1B8A-91C0-7DB8-4533-5A9AD9C8B727}"/>
              </a:ext>
            </a:extLst>
          </p:cNvPr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008278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EED50048-3782-52B7-8434-547D7C91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76AE6609-2721-AC18-88F1-BE98A16BE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3200" dirty="0"/>
              <a:t>Feature Importance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E145BB-773C-8CDE-CAE1-95421D26FB62}"/>
              </a:ext>
            </a:extLst>
          </p:cNvPr>
          <p:cNvSpPr txBox="1"/>
          <p:nvPr/>
        </p:nvSpPr>
        <p:spPr>
          <a:xfrm>
            <a:off x="875653" y="1263111"/>
            <a:ext cx="43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Sora"/>
                <a:cs typeface="Sora"/>
                <a:sym typeface="Sora"/>
              </a:rPr>
              <a:t>Identifying the most useful features</a:t>
            </a:r>
            <a:endParaRPr lang="en-GB" sz="1800" b="1" dirty="0">
              <a:solidFill>
                <a:schemeClr val="dk1"/>
              </a:solidFill>
              <a:latin typeface="Sora"/>
              <a:cs typeface="Sora"/>
              <a:sym typeface="Sor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A88BA5-E750-0E5B-8748-B4B21C3E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36" y="1730964"/>
            <a:ext cx="4477283" cy="3123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F998AE-B0AA-2023-ED36-2C58465CD44A}"/>
              </a:ext>
            </a:extLst>
          </p:cNvPr>
          <p:cNvSpPr txBox="1"/>
          <p:nvPr/>
        </p:nvSpPr>
        <p:spPr>
          <a:xfrm>
            <a:off x="5554716" y="1991833"/>
            <a:ext cx="2530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dk1"/>
                </a:solidFill>
                <a:latin typeface="Sora"/>
                <a:cs typeface="Sora"/>
              </a:rPr>
              <a:t>We realize that the </a:t>
            </a:r>
            <a:r>
              <a:rPr lang="en-US" sz="1500" b="1" dirty="0" err="1">
                <a:solidFill>
                  <a:schemeClr val="dk1"/>
                </a:solidFill>
                <a:latin typeface="Sora"/>
                <a:cs typeface="Sora"/>
              </a:rPr>
              <a:t>months_since_last_txn</a:t>
            </a:r>
            <a:r>
              <a:rPr lang="en-US" sz="1500" b="1" dirty="0">
                <a:solidFill>
                  <a:schemeClr val="dk1"/>
                </a:solidFill>
                <a:latin typeface="Sora"/>
                <a:cs typeface="Sora"/>
              </a:rPr>
              <a:t> and the </a:t>
            </a:r>
            <a:r>
              <a:rPr lang="en-US" sz="1500" b="1" dirty="0" err="1">
                <a:solidFill>
                  <a:schemeClr val="dk1"/>
                </a:solidFill>
                <a:latin typeface="Sora"/>
                <a:cs typeface="Sora"/>
              </a:rPr>
              <a:t>inactivity_flag</a:t>
            </a:r>
            <a:r>
              <a:rPr lang="en-US" sz="1500" b="1" dirty="0">
                <a:solidFill>
                  <a:schemeClr val="dk1"/>
                </a:solidFill>
                <a:latin typeface="Sora"/>
                <a:cs typeface="Sora"/>
              </a:rPr>
              <a:t> in all of the models are of the most important features</a:t>
            </a:r>
            <a:endParaRPr lang="en-GB" sz="1500" b="1" dirty="0">
              <a:solidFill>
                <a:schemeClr val="dk1"/>
              </a:solidFill>
              <a:latin typeface="Sora"/>
              <a:cs typeface="Sora"/>
            </a:endParaRPr>
          </a:p>
        </p:txBody>
      </p:sp>
    </p:spTree>
    <p:extLst>
      <p:ext uri="{BB962C8B-B14F-4D97-AF65-F5344CB8AC3E}">
        <p14:creationId xmlns:p14="http://schemas.microsoft.com/office/powerpoint/2010/main" val="188356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3200" dirty="0"/>
              <a:t>Model Evaluation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843F16-6C1B-6EF4-A41F-E04528BA7ADA}"/>
              </a:ext>
            </a:extLst>
          </p:cNvPr>
          <p:cNvSpPr txBox="1"/>
          <p:nvPr/>
        </p:nvSpPr>
        <p:spPr>
          <a:xfrm>
            <a:off x="875653" y="1263111"/>
            <a:ext cx="43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Sora"/>
                <a:cs typeface="Sora"/>
                <a:sym typeface="Sora"/>
              </a:rPr>
              <a:t>Identifying the Champion models</a:t>
            </a:r>
            <a:endParaRPr lang="en-GB" sz="1800" b="1" dirty="0">
              <a:solidFill>
                <a:schemeClr val="dk1"/>
              </a:solidFill>
              <a:latin typeface="Sora"/>
              <a:cs typeface="Sora"/>
              <a:sym typeface="Sor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7267CE-3FD0-0AE0-1B67-B7ECD035F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190" y="1632443"/>
            <a:ext cx="5583265" cy="32541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"/>
          <p:cNvSpPr/>
          <p:nvPr/>
        </p:nvSpPr>
        <p:spPr>
          <a:xfrm>
            <a:off x="4869758" y="3503265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4855074" y="2628718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720000" y="69094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Deploymet &amp; Future Use</a:t>
            </a:r>
            <a:endParaRPr dirty="0"/>
          </a:p>
        </p:txBody>
      </p:sp>
      <p:sp>
        <p:nvSpPr>
          <p:cNvPr id="669" name="Google Shape;669;p42"/>
          <p:cNvSpPr txBox="1">
            <a:spLocks noGrp="1"/>
          </p:cNvSpPr>
          <p:nvPr>
            <p:ph type="subTitle" idx="5"/>
          </p:nvPr>
        </p:nvSpPr>
        <p:spPr>
          <a:xfrm>
            <a:off x="5806927" y="2745407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Adaboost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subTitle" idx="7"/>
          </p:nvPr>
        </p:nvSpPr>
        <p:spPr>
          <a:xfrm>
            <a:off x="5821201" y="360810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Catboost</a:t>
            </a:r>
            <a:endParaRPr dirty="0"/>
          </a:p>
        </p:txBody>
      </p:sp>
      <p:grpSp>
        <p:nvGrpSpPr>
          <p:cNvPr id="673" name="Google Shape;673;p42"/>
          <p:cNvGrpSpPr/>
          <p:nvPr/>
        </p:nvGrpSpPr>
        <p:grpSpPr>
          <a:xfrm>
            <a:off x="4963111" y="2736755"/>
            <a:ext cx="470086" cy="500326"/>
            <a:chOff x="4663732" y="1480816"/>
            <a:chExt cx="470086" cy="500326"/>
          </a:xfrm>
        </p:grpSpPr>
        <p:sp>
          <p:nvSpPr>
            <p:cNvPr id="674" name="Google Shape;674;p42"/>
            <p:cNvSpPr/>
            <p:nvPr/>
          </p:nvSpPr>
          <p:spPr>
            <a:xfrm>
              <a:off x="5045882" y="1539550"/>
              <a:ext cx="87855" cy="59634"/>
            </a:xfrm>
            <a:custGeom>
              <a:avLst/>
              <a:gdLst/>
              <a:ahLst/>
              <a:cxnLst/>
              <a:rect l="l" t="t" r="r" b="b"/>
              <a:pathLst>
                <a:path w="3219" h="2185" extrusionOk="0">
                  <a:moveTo>
                    <a:pt x="0" y="1"/>
                  </a:moveTo>
                  <a:lnTo>
                    <a:pt x="0" y="2185"/>
                  </a:lnTo>
                  <a:lnTo>
                    <a:pt x="3215" y="2185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2"/>
            <p:cNvSpPr/>
            <p:nvPr/>
          </p:nvSpPr>
          <p:spPr>
            <a:xfrm>
              <a:off x="5050685" y="1833681"/>
              <a:ext cx="79012" cy="120606"/>
            </a:xfrm>
            <a:custGeom>
              <a:avLst/>
              <a:gdLst/>
              <a:ahLst/>
              <a:cxnLst/>
              <a:rect l="l" t="t" r="r" b="b"/>
              <a:pathLst>
                <a:path w="2895" h="4419" extrusionOk="0">
                  <a:moveTo>
                    <a:pt x="1" y="0"/>
                  </a:moveTo>
                  <a:lnTo>
                    <a:pt x="1433" y="4418"/>
                  </a:lnTo>
                  <a:lnTo>
                    <a:pt x="28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2"/>
            <p:cNvSpPr/>
            <p:nvPr/>
          </p:nvSpPr>
          <p:spPr>
            <a:xfrm>
              <a:off x="4899185" y="1862856"/>
              <a:ext cx="29421" cy="29394"/>
            </a:xfrm>
            <a:custGeom>
              <a:avLst/>
              <a:gdLst/>
              <a:ahLst/>
              <a:cxnLst/>
              <a:rect l="l" t="t" r="r" b="b"/>
              <a:pathLst>
                <a:path w="1078" h="1077" extrusionOk="0">
                  <a:moveTo>
                    <a:pt x="541" y="0"/>
                  </a:moveTo>
                  <a:cubicBezTo>
                    <a:pt x="244" y="0"/>
                    <a:pt x="1" y="244"/>
                    <a:pt x="1" y="540"/>
                  </a:cubicBezTo>
                  <a:cubicBezTo>
                    <a:pt x="1" y="837"/>
                    <a:pt x="244" y="1077"/>
                    <a:pt x="541" y="1077"/>
                  </a:cubicBezTo>
                  <a:cubicBezTo>
                    <a:pt x="834" y="1077"/>
                    <a:pt x="1077" y="837"/>
                    <a:pt x="1077" y="540"/>
                  </a:cubicBezTo>
                  <a:cubicBezTo>
                    <a:pt x="1077" y="244"/>
                    <a:pt x="834" y="0"/>
                    <a:pt x="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2"/>
            <p:cNvSpPr/>
            <p:nvPr/>
          </p:nvSpPr>
          <p:spPr>
            <a:xfrm>
              <a:off x="4663732" y="1480816"/>
              <a:ext cx="352892" cy="500326"/>
            </a:xfrm>
            <a:custGeom>
              <a:avLst/>
              <a:gdLst/>
              <a:ahLst/>
              <a:cxnLst/>
              <a:rect l="l" t="t" r="r" b="b"/>
              <a:pathLst>
                <a:path w="12930" h="18332" extrusionOk="0">
                  <a:moveTo>
                    <a:pt x="9387" y="6038"/>
                  </a:moveTo>
                  <a:lnTo>
                    <a:pt x="10145" y="6796"/>
                  </a:lnTo>
                  <a:lnTo>
                    <a:pt x="9387" y="7555"/>
                  </a:lnTo>
                  <a:lnTo>
                    <a:pt x="10145" y="8314"/>
                  </a:lnTo>
                  <a:lnTo>
                    <a:pt x="9387" y="9072"/>
                  </a:lnTo>
                  <a:lnTo>
                    <a:pt x="8628" y="8314"/>
                  </a:lnTo>
                  <a:lnTo>
                    <a:pt x="7869" y="9072"/>
                  </a:lnTo>
                  <a:lnTo>
                    <a:pt x="7111" y="8314"/>
                  </a:lnTo>
                  <a:lnTo>
                    <a:pt x="7869" y="7555"/>
                  </a:lnTo>
                  <a:lnTo>
                    <a:pt x="7111" y="6796"/>
                  </a:lnTo>
                  <a:lnTo>
                    <a:pt x="7869" y="6038"/>
                  </a:lnTo>
                  <a:lnTo>
                    <a:pt x="8628" y="6796"/>
                  </a:lnTo>
                  <a:lnTo>
                    <a:pt x="9387" y="6038"/>
                  </a:lnTo>
                  <a:close/>
                  <a:moveTo>
                    <a:pt x="5092" y="12488"/>
                  </a:moveTo>
                  <a:lnTo>
                    <a:pt x="5851" y="13247"/>
                  </a:lnTo>
                  <a:lnTo>
                    <a:pt x="5092" y="14006"/>
                  </a:lnTo>
                  <a:lnTo>
                    <a:pt x="5851" y="14764"/>
                  </a:lnTo>
                  <a:lnTo>
                    <a:pt x="5092" y="15523"/>
                  </a:lnTo>
                  <a:lnTo>
                    <a:pt x="4333" y="14764"/>
                  </a:lnTo>
                  <a:lnTo>
                    <a:pt x="3575" y="15523"/>
                  </a:lnTo>
                  <a:lnTo>
                    <a:pt x="2816" y="14764"/>
                  </a:lnTo>
                  <a:lnTo>
                    <a:pt x="3575" y="14006"/>
                  </a:lnTo>
                  <a:lnTo>
                    <a:pt x="2816" y="13247"/>
                  </a:lnTo>
                  <a:lnTo>
                    <a:pt x="3575" y="12488"/>
                  </a:lnTo>
                  <a:lnTo>
                    <a:pt x="4333" y="13247"/>
                  </a:lnTo>
                  <a:lnTo>
                    <a:pt x="5092" y="12488"/>
                  </a:lnTo>
                  <a:close/>
                  <a:moveTo>
                    <a:pt x="3797" y="2904"/>
                  </a:moveTo>
                  <a:lnTo>
                    <a:pt x="5840" y="5628"/>
                  </a:lnTo>
                  <a:lnTo>
                    <a:pt x="4979" y="6271"/>
                  </a:lnTo>
                  <a:lnTo>
                    <a:pt x="4337" y="5410"/>
                  </a:lnTo>
                  <a:lnTo>
                    <a:pt x="4337" y="8808"/>
                  </a:lnTo>
                  <a:lnTo>
                    <a:pt x="9708" y="10957"/>
                  </a:lnTo>
                  <a:lnTo>
                    <a:pt x="9708" y="13028"/>
                  </a:lnTo>
                  <a:cubicBezTo>
                    <a:pt x="10332" y="13250"/>
                    <a:pt x="10784" y="13840"/>
                    <a:pt x="10784" y="14542"/>
                  </a:cubicBezTo>
                  <a:cubicBezTo>
                    <a:pt x="10777" y="15428"/>
                    <a:pt x="10054" y="16151"/>
                    <a:pt x="9168" y="16151"/>
                  </a:cubicBezTo>
                  <a:cubicBezTo>
                    <a:pt x="8279" y="16151"/>
                    <a:pt x="7555" y="15428"/>
                    <a:pt x="7555" y="14542"/>
                  </a:cubicBezTo>
                  <a:cubicBezTo>
                    <a:pt x="7555" y="13840"/>
                    <a:pt x="8007" y="13254"/>
                    <a:pt x="8631" y="13028"/>
                  </a:cubicBezTo>
                  <a:lnTo>
                    <a:pt x="8631" y="11684"/>
                  </a:lnTo>
                  <a:lnTo>
                    <a:pt x="3261" y="9535"/>
                  </a:lnTo>
                  <a:lnTo>
                    <a:pt x="3261" y="5410"/>
                  </a:lnTo>
                  <a:lnTo>
                    <a:pt x="2615" y="6271"/>
                  </a:lnTo>
                  <a:lnTo>
                    <a:pt x="1757" y="5628"/>
                  </a:lnTo>
                  <a:lnTo>
                    <a:pt x="3797" y="2904"/>
                  </a:lnTo>
                  <a:close/>
                  <a:moveTo>
                    <a:pt x="0" y="0"/>
                  </a:moveTo>
                  <a:lnTo>
                    <a:pt x="0" y="18332"/>
                  </a:lnTo>
                  <a:lnTo>
                    <a:pt x="12929" y="18332"/>
                  </a:lnTo>
                  <a:lnTo>
                    <a:pt x="12929" y="4337"/>
                  </a:lnTo>
                  <a:lnTo>
                    <a:pt x="8628" y="4337"/>
                  </a:lnTo>
                  <a:lnTo>
                    <a:pt x="86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2"/>
            <p:cNvSpPr/>
            <p:nvPr/>
          </p:nvSpPr>
          <p:spPr>
            <a:xfrm>
              <a:off x="4928579" y="1489468"/>
              <a:ext cx="79367" cy="80349"/>
            </a:xfrm>
            <a:custGeom>
              <a:avLst/>
              <a:gdLst/>
              <a:ahLst/>
              <a:cxnLst/>
              <a:rect l="l" t="t" r="r" b="b"/>
              <a:pathLst>
                <a:path w="2908" h="2944" extrusionOk="0">
                  <a:moveTo>
                    <a:pt x="0" y="1"/>
                  </a:moveTo>
                  <a:lnTo>
                    <a:pt x="0" y="2944"/>
                  </a:lnTo>
                  <a:lnTo>
                    <a:pt x="2908" y="29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2"/>
            <p:cNvSpPr/>
            <p:nvPr/>
          </p:nvSpPr>
          <p:spPr>
            <a:xfrm>
              <a:off x="5045882" y="1628359"/>
              <a:ext cx="87936" cy="175982"/>
            </a:xfrm>
            <a:custGeom>
              <a:avLst/>
              <a:gdLst/>
              <a:ahLst/>
              <a:cxnLst/>
              <a:rect l="l" t="t" r="r" b="b"/>
              <a:pathLst>
                <a:path w="3222" h="6448" extrusionOk="0">
                  <a:moveTo>
                    <a:pt x="0" y="0"/>
                  </a:moveTo>
                  <a:lnTo>
                    <a:pt x="0" y="6447"/>
                  </a:lnTo>
                  <a:lnTo>
                    <a:pt x="3222" y="6447"/>
                  </a:lnTo>
                  <a:lnTo>
                    <a:pt x="32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" name="Google Shape;711;p42"/>
          <p:cNvGrpSpPr/>
          <p:nvPr/>
        </p:nvGrpSpPr>
        <p:grpSpPr>
          <a:xfrm>
            <a:off x="4977740" y="3608105"/>
            <a:ext cx="500435" cy="500626"/>
            <a:chOff x="4721893" y="3324424"/>
            <a:chExt cx="500435" cy="500626"/>
          </a:xfrm>
        </p:grpSpPr>
        <p:sp>
          <p:nvSpPr>
            <p:cNvPr id="712" name="Google Shape;712;p42"/>
            <p:cNvSpPr/>
            <p:nvPr/>
          </p:nvSpPr>
          <p:spPr>
            <a:xfrm>
              <a:off x="4986739" y="3397814"/>
              <a:ext cx="29394" cy="59525"/>
            </a:xfrm>
            <a:custGeom>
              <a:avLst/>
              <a:gdLst/>
              <a:ahLst/>
              <a:cxnLst/>
              <a:rect l="l" t="t" r="r" b="b"/>
              <a:pathLst>
                <a:path w="1077" h="2181" extrusionOk="0">
                  <a:moveTo>
                    <a:pt x="1" y="0"/>
                  </a:moveTo>
                  <a:lnTo>
                    <a:pt x="1" y="2181"/>
                  </a:lnTo>
                  <a:lnTo>
                    <a:pt x="1077" y="2181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2"/>
            <p:cNvSpPr/>
            <p:nvPr/>
          </p:nvSpPr>
          <p:spPr>
            <a:xfrm>
              <a:off x="5103960" y="3545357"/>
              <a:ext cx="29394" cy="58679"/>
            </a:xfrm>
            <a:custGeom>
              <a:avLst/>
              <a:gdLst/>
              <a:ahLst/>
              <a:cxnLst/>
              <a:rect l="l" t="t" r="r" b="b"/>
              <a:pathLst>
                <a:path w="1077" h="2150" extrusionOk="0">
                  <a:moveTo>
                    <a:pt x="0" y="0"/>
                  </a:moveTo>
                  <a:lnTo>
                    <a:pt x="0" y="2149"/>
                  </a:lnTo>
                  <a:lnTo>
                    <a:pt x="1076" y="2149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2"/>
            <p:cNvSpPr/>
            <p:nvPr/>
          </p:nvSpPr>
          <p:spPr>
            <a:xfrm>
              <a:off x="4810702" y="3397814"/>
              <a:ext cx="29394" cy="59525"/>
            </a:xfrm>
            <a:custGeom>
              <a:avLst/>
              <a:gdLst/>
              <a:ahLst/>
              <a:cxnLst/>
              <a:rect l="l" t="t" r="r" b="b"/>
              <a:pathLst>
                <a:path w="1077" h="2181" extrusionOk="0">
                  <a:moveTo>
                    <a:pt x="0" y="0"/>
                  </a:moveTo>
                  <a:lnTo>
                    <a:pt x="0" y="2181"/>
                  </a:lnTo>
                  <a:lnTo>
                    <a:pt x="1076" y="2181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2"/>
            <p:cNvSpPr/>
            <p:nvPr/>
          </p:nvSpPr>
          <p:spPr>
            <a:xfrm>
              <a:off x="4869436" y="3545357"/>
              <a:ext cx="29394" cy="58679"/>
            </a:xfrm>
            <a:custGeom>
              <a:avLst/>
              <a:gdLst/>
              <a:ahLst/>
              <a:cxnLst/>
              <a:rect l="l" t="t" r="r" b="b"/>
              <a:pathLst>
                <a:path w="1077" h="2150" extrusionOk="0">
                  <a:moveTo>
                    <a:pt x="1" y="0"/>
                  </a:moveTo>
                  <a:lnTo>
                    <a:pt x="1" y="2149"/>
                  </a:lnTo>
                  <a:lnTo>
                    <a:pt x="1077" y="2149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2"/>
            <p:cNvSpPr/>
            <p:nvPr/>
          </p:nvSpPr>
          <p:spPr>
            <a:xfrm>
              <a:off x="4721893" y="3324424"/>
              <a:ext cx="500353" cy="352892"/>
            </a:xfrm>
            <a:custGeom>
              <a:avLst/>
              <a:gdLst/>
              <a:ahLst/>
              <a:cxnLst/>
              <a:rect l="l" t="t" r="r" b="b"/>
              <a:pathLst>
                <a:path w="18333" h="12930" extrusionOk="0">
                  <a:moveTo>
                    <a:pt x="5407" y="1616"/>
                  </a:moveTo>
                  <a:lnTo>
                    <a:pt x="5407" y="5950"/>
                  </a:lnTo>
                  <a:lnTo>
                    <a:pt x="2185" y="5950"/>
                  </a:lnTo>
                  <a:lnTo>
                    <a:pt x="2185" y="1616"/>
                  </a:lnTo>
                  <a:close/>
                  <a:moveTo>
                    <a:pt x="7556" y="1616"/>
                  </a:moveTo>
                  <a:lnTo>
                    <a:pt x="7556" y="5950"/>
                  </a:lnTo>
                  <a:lnTo>
                    <a:pt x="6479" y="5950"/>
                  </a:lnTo>
                  <a:lnTo>
                    <a:pt x="6479" y="1616"/>
                  </a:lnTo>
                  <a:close/>
                  <a:moveTo>
                    <a:pt x="11854" y="1616"/>
                  </a:moveTo>
                  <a:lnTo>
                    <a:pt x="11854" y="5950"/>
                  </a:lnTo>
                  <a:lnTo>
                    <a:pt x="8628" y="5950"/>
                  </a:lnTo>
                  <a:lnTo>
                    <a:pt x="8628" y="1616"/>
                  </a:lnTo>
                  <a:close/>
                  <a:moveTo>
                    <a:pt x="13999" y="1616"/>
                  </a:moveTo>
                  <a:lnTo>
                    <a:pt x="13999" y="5950"/>
                  </a:lnTo>
                  <a:lnTo>
                    <a:pt x="12923" y="5950"/>
                  </a:lnTo>
                  <a:lnTo>
                    <a:pt x="12923" y="1616"/>
                  </a:lnTo>
                  <a:close/>
                  <a:moveTo>
                    <a:pt x="16148" y="1616"/>
                  </a:moveTo>
                  <a:lnTo>
                    <a:pt x="16148" y="5950"/>
                  </a:lnTo>
                  <a:lnTo>
                    <a:pt x="15072" y="5950"/>
                  </a:lnTo>
                  <a:lnTo>
                    <a:pt x="15072" y="1616"/>
                  </a:lnTo>
                  <a:close/>
                  <a:moveTo>
                    <a:pt x="3261" y="7019"/>
                  </a:moveTo>
                  <a:lnTo>
                    <a:pt x="3261" y="11317"/>
                  </a:lnTo>
                  <a:lnTo>
                    <a:pt x="2185" y="11317"/>
                  </a:lnTo>
                  <a:lnTo>
                    <a:pt x="2185" y="7019"/>
                  </a:lnTo>
                  <a:close/>
                  <a:moveTo>
                    <a:pt x="9705" y="7019"/>
                  </a:moveTo>
                  <a:lnTo>
                    <a:pt x="9705" y="11317"/>
                  </a:lnTo>
                  <a:lnTo>
                    <a:pt x="8628" y="11317"/>
                  </a:lnTo>
                  <a:lnTo>
                    <a:pt x="8628" y="7019"/>
                  </a:lnTo>
                  <a:close/>
                  <a:moveTo>
                    <a:pt x="16148" y="7019"/>
                  </a:moveTo>
                  <a:lnTo>
                    <a:pt x="16148" y="11317"/>
                  </a:lnTo>
                  <a:lnTo>
                    <a:pt x="12923" y="11317"/>
                  </a:lnTo>
                  <a:lnTo>
                    <a:pt x="12923" y="7019"/>
                  </a:lnTo>
                  <a:close/>
                  <a:moveTo>
                    <a:pt x="7556" y="7026"/>
                  </a:moveTo>
                  <a:lnTo>
                    <a:pt x="7556" y="11320"/>
                  </a:lnTo>
                  <a:lnTo>
                    <a:pt x="4330" y="11320"/>
                  </a:lnTo>
                  <a:lnTo>
                    <a:pt x="4330" y="7026"/>
                  </a:lnTo>
                  <a:close/>
                  <a:moveTo>
                    <a:pt x="11854" y="7026"/>
                  </a:moveTo>
                  <a:lnTo>
                    <a:pt x="11854" y="11320"/>
                  </a:lnTo>
                  <a:lnTo>
                    <a:pt x="10777" y="11320"/>
                  </a:lnTo>
                  <a:lnTo>
                    <a:pt x="10777" y="7026"/>
                  </a:lnTo>
                  <a:close/>
                  <a:moveTo>
                    <a:pt x="1" y="0"/>
                  </a:moveTo>
                  <a:lnTo>
                    <a:pt x="1" y="12930"/>
                  </a:lnTo>
                  <a:lnTo>
                    <a:pt x="18332" y="12930"/>
                  </a:lnTo>
                  <a:lnTo>
                    <a:pt x="18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2"/>
            <p:cNvSpPr/>
            <p:nvPr/>
          </p:nvSpPr>
          <p:spPr>
            <a:xfrm>
              <a:off x="4722002" y="3706656"/>
              <a:ext cx="500326" cy="118395"/>
            </a:xfrm>
            <a:custGeom>
              <a:avLst/>
              <a:gdLst/>
              <a:ahLst/>
              <a:cxnLst/>
              <a:rect l="l" t="t" r="r" b="b"/>
              <a:pathLst>
                <a:path w="18332" h="4338" extrusionOk="0">
                  <a:moveTo>
                    <a:pt x="0" y="1"/>
                  </a:moveTo>
                  <a:lnTo>
                    <a:pt x="0" y="2185"/>
                  </a:lnTo>
                  <a:lnTo>
                    <a:pt x="7552" y="2185"/>
                  </a:lnTo>
                  <a:lnTo>
                    <a:pt x="7552" y="3261"/>
                  </a:lnTo>
                  <a:lnTo>
                    <a:pt x="5403" y="3261"/>
                  </a:lnTo>
                  <a:lnTo>
                    <a:pt x="5403" y="4338"/>
                  </a:lnTo>
                  <a:lnTo>
                    <a:pt x="12926" y="4338"/>
                  </a:lnTo>
                  <a:lnTo>
                    <a:pt x="12926" y="3261"/>
                  </a:lnTo>
                  <a:lnTo>
                    <a:pt x="10777" y="3261"/>
                  </a:lnTo>
                  <a:lnTo>
                    <a:pt x="10777" y="2185"/>
                  </a:lnTo>
                  <a:lnTo>
                    <a:pt x="18332" y="2185"/>
                  </a:lnTo>
                  <a:lnTo>
                    <a:pt x="183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DA57D5-63EB-0DC6-3FCC-25E7B5BA0703}"/>
              </a:ext>
            </a:extLst>
          </p:cNvPr>
          <p:cNvSpPr txBox="1"/>
          <p:nvPr/>
        </p:nvSpPr>
        <p:spPr>
          <a:xfrm>
            <a:off x="4695986" y="1533896"/>
            <a:ext cx="28826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solidFill>
                  <a:schemeClr val="dk1"/>
                </a:solidFill>
                <a:latin typeface="Sora"/>
                <a:cs typeface="Sora"/>
                <a:sym typeface="Sora"/>
              </a:rPr>
              <a:t>Model to be used for deployment</a:t>
            </a:r>
            <a:endParaRPr lang="en-GB" sz="2300" b="1" dirty="0">
              <a:solidFill>
                <a:schemeClr val="dk1"/>
              </a:solidFill>
              <a:latin typeface="Sora"/>
              <a:cs typeface="Sora"/>
              <a:sym typeface="Sor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DDAAA-9A0D-BBD7-A5F9-A51B7A9AEF34}"/>
              </a:ext>
            </a:extLst>
          </p:cNvPr>
          <p:cNvSpPr txBox="1"/>
          <p:nvPr/>
        </p:nvSpPr>
        <p:spPr>
          <a:xfrm>
            <a:off x="1159789" y="1533895"/>
            <a:ext cx="28826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solidFill>
                  <a:schemeClr val="dk1"/>
                </a:solidFill>
                <a:latin typeface="Sora"/>
                <a:cs typeface="Sora"/>
                <a:sym typeface="Sora"/>
              </a:rPr>
              <a:t>Future work to be considered</a:t>
            </a:r>
            <a:endParaRPr lang="en-GB" sz="2300" b="1" dirty="0">
              <a:solidFill>
                <a:schemeClr val="dk1"/>
              </a:solidFill>
              <a:latin typeface="Sora"/>
              <a:cs typeface="Sora"/>
              <a:sym typeface="Sor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2DFC9-54C9-D41A-04E9-D1F533C44D22}"/>
              </a:ext>
            </a:extLst>
          </p:cNvPr>
          <p:cNvSpPr txBox="1"/>
          <p:nvPr/>
        </p:nvSpPr>
        <p:spPr>
          <a:xfrm>
            <a:off x="1141914" y="2479086"/>
            <a:ext cx="3457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ora"/>
                <a:cs typeface="Sora"/>
                <a:sym typeface="Sora"/>
              </a:rPr>
              <a:t>Stacking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ora"/>
                <a:cs typeface="Sora"/>
                <a:sym typeface="Sora"/>
              </a:rPr>
              <a:t>Voting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ora"/>
                <a:cs typeface="Sora"/>
                <a:sym typeface="Sora"/>
              </a:rPr>
              <a:t>SMOTE (Balance)</a:t>
            </a:r>
            <a:endParaRPr lang="en-GB" sz="2400" b="1" dirty="0">
              <a:solidFill>
                <a:schemeClr val="dk1"/>
              </a:solidFill>
              <a:latin typeface="Sora"/>
              <a:cs typeface="Sora"/>
              <a:sym typeface="Sor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993D2E-953F-6EB9-58C8-6D8F6CACB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773" y="155376"/>
            <a:ext cx="1436811" cy="14368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826" name="Google Shape;1826;p65"/>
          <p:cNvSpPr txBox="1">
            <a:spLocks noGrp="1"/>
          </p:cNvSpPr>
          <p:nvPr>
            <p:ph type="subTitle" idx="1"/>
          </p:nvPr>
        </p:nvSpPr>
        <p:spPr>
          <a:xfrm>
            <a:off x="946899" y="1391225"/>
            <a:ext cx="6354123" cy="27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Did you like the resources in this template? Get them at these websites: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Facts</a:t>
            </a:r>
            <a:endParaRPr b="1" dirty="0"/>
          </a:p>
          <a:p>
            <a:pPr lvl="0"/>
            <a:r>
              <a:rPr lang="en-GB" u="sng" dirty="0">
                <a:solidFill>
                  <a:schemeClr val="hlink"/>
                </a:solidFill>
              </a:rPr>
              <a:t>https://axis-intelligence.com/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Gradient quantum illustration</a:t>
            </a:r>
            <a:endParaRPr lang="en" u="sng" dirty="0">
              <a:solidFill>
                <a:schemeClr val="hlink"/>
              </a:solidFill>
            </a:endParaRPr>
          </a:p>
          <a:p>
            <a:pPr marL="139700" lv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62"/>
          <p:cNvSpPr txBox="1">
            <a:spLocks noGrp="1"/>
          </p:cNvSpPr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231" name="Google Shape;1231;p62"/>
          <p:cNvSpPr txBox="1">
            <a:spLocks noGrp="1"/>
          </p:cNvSpPr>
          <p:nvPr>
            <p:ph type="subTitle" idx="1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Mmekawy427@gmail.com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2" name="Google Shape;1232;p62"/>
          <p:cNvSpPr txBox="1"/>
          <p:nvPr/>
        </p:nvSpPr>
        <p:spPr>
          <a:xfrm>
            <a:off x="713275" y="4233700"/>
            <a:ext cx="46293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33" name="Google Shape;1233;p62"/>
          <p:cNvGrpSpPr/>
          <p:nvPr/>
        </p:nvGrpSpPr>
        <p:grpSpPr>
          <a:xfrm>
            <a:off x="6034854" y="1343530"/>
            <a:ext cx="2894210" cy="2843761"/>
            <a:chOff x="5970625" y="1743798"/>
            <a:chExt cx="2272821" cy="2233203"/>
          </a:xfrm>
        </p:grpSpPr>
        <p:sp>
          <p:nvSpPr>
            <p:cNvPr id="1234" name="Google Shape;1234;p62"/>
            <p:cNvSpPr/>
            <p:nvPr/>
          </p:nvSpPr>
          <p:spPr>
            <a:xfrm>
              <a:off x="5970625" y="1743798"/>
              <a:ext cx="2233096" cy="2233203"/>
            </a:xfrm>
            <a:custGeom>
              <a:avLst/>
              <a:gdLst/>
              <a:ahLst/>
              <a:cxnLst/>
              <a:rect l="l" t="t" r="r" b="b"/>
              <a:pathLst>
                <a:path w="43058" h="43058" extrusionOk="0">
                  <a:moveTo>
                    <a:pt x="43058" y="21529"/>
                  </a:moveTo>
                  <a:cubicBezTo>
                    <a:pt x="43058" y="33419"/>
                    <a:pt x="33419" y="43058"/>
                    <a:pt x="21529" y="43058"/>
                  </a:cubicBezTo>
                  <a:cubicBezTo>
                    <a:pt x="9640" y="43058"/>
                    <a:pt x="0" y="33419"/>
                    <a:pt x="0" y="21529"/>
                  </a:cubicBezTo>
                  <a:cubicBezTo>
                    <a:pt x="0" y="9640"/>
                    <a:pt x="9640" y="0"/>
                    <a:pt x="21529" y="0"/>
                  </a:cubicBezTo>
                  <a:cubicBezTo>
                    <a:pt x="33419" y="0"/>
                    <a:pt x="43058" y="9640"/>
                    <a:pt x="43058" y="215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62"/>
            <p:cNvSpPr/>
            <p:nvPr/>
          </p:nvSpPr>
          <p:spPr>
            <a:xfrm>
              <a:off x="8039522" y="2569044"/>
              <a:ext cx="203923" cy="204504"/>
            </a:xfrm>
            <a:custGeom>
              <a:avLst/>
              <a:gdLst/>
              <a:ahLst/>
              <a:cxnLst/>
              <a:rect l="l" t="t" r="r" b="b"/>
              <a:pathLst>
                <a:path w="3932" h="3943" extrusionOk="0">
                  <a:moveTo>
                    <a:pt x="3713" y="3931"/>
                  </a:moveTo>
                  <a:cubicBezTo>
                    <a:pt x="3598" y="3931"/>
                    <a:pt x="3500" y="3833"/>
                    <a:pt x="3500" y="3712"/>
                  </a:cubicBezTo>
                  <a:cubicBezTo>
                    <a:pt x="3500" y="1905"/>
                    <a:pt x="2032" y="432"/>
                    <a:pt x="219" y="432"/>
                  </a:cubicBezTo>
                  <a:cubicBezTo>
                    <a:pt x="104" y="432"/>
                    <a:pt x="1" y="340"/>
                    <a:pt x="1" y="219"/>
                  </a:cubicBezTo>
                  <a:cubicBezTo>
                    <a:pt x="1" y="104"/>
                    <a:pt x="93" y="0"/>
                    <a:pt x="219" y="0"/>
                  </a:cubicBezTo>
                  <a:cubicBezTo>
                    <a:pt x="2262" y="0"/>
                    <a:pt x="3920" y="1664"/>
                    <a:pt x="3920" y="3707"/>
                  </a:cubicBezTo>
                  <a:cubicBezTo>
                    <a:pt x="3931" y="3833"/>
                    <a:pt x="3828" y="3931"/>
                    <a:pt x="3713" y="3931"/>
                  </a:cubicBezTo>
                  <a:close/>
                  <a:moveTo>
                    <a:pt x="2878" y="3718"/>
                  </a:moveTo>
                  <a:cubicBezTo>
                    <a:pt x="2878" y="2251"/>
                    <a:pt x="1687" y="1065"/>
                    <a:pt x="225" y="1065"/>
                  </a:cubicBezTo>
                  <a:cubicBezTo>
                    <a:pt x="110" y="1065"/>
                    <a:pt x="6" y="1157"/>
                    <a:pt x="6" y="1284"/>
                  </a:cubicBezTo>
                  <a:cubicBezTo>
                    <a:pt x="6" y="1399"/>
                    <a:pt x="104" y="1497"/>
                    <a:pt x="225" y="1497"/>
                  </a:cubicBezTo>
                  <a:cubicBezTo>
                    <a:pt x="1457" y="1497"/>
                    <a:pt x="2452" y="2498"/>
                    <a:pt x="2452" y="3730"/>
                  </a:cubicBezTo>
                  <a:cubicBezTo>
                    <a:pt x="2452" y="3845"/>
                    <a:pt x="2550" y="3943"/>
                    <a:pt x="2671" y="3943"/>
                  </a:cubicBezTo>
                  <a:cubicBezTo>
                    <a:pt x="2792" y="3943"/>
                    <a:pt x="2878" y="3833"/>
                    <a:pt x="2878" y="3718"/>
                  </a:cubicBezTo>
                  <a:close/>
                  <a:moveTo>
                    <a:pt x="1831" y="3718"/>
                  </a:moveTo>
                  <a:cubicBezTo>
                    <a:pt x="1831" y="2838"/>
                    <a:pt x="1111" y="2107"/>
                    <a:pt x="219" y="2107"/>
                  </a:cubicBezTo>
                  <a:cubicBezTo>
                    <a:pt x="104" y="2107"/>
                    <a:pt x="1" y="2205"/>
                    <a:pt x="1" y="2325"/>
                  </a:cubicBezTo>
                  <a:cubicBezTo>
                    <a:pt x="1" y="2446"/>
                    <a:pt x="93" y="2538"/>
                    <a:pt x="219" y="2538"/>
                  </a:cubicBezTo>
                  <a:cubicBezTo>
                    <a:pt x="870" y="2538"/>
                    <a:pt x="1405" y="3074"/>
                    <a:pt x="1405" y="3730"/>
                  </a:cubicBezTo>
                  <a:cubicBezTo>
                    <a:pt x="1405" y="3845"/>
                    <a:pt x="1497" y="3943"/>
                    <a:pt x="1618" y="3943"/>
                  </a:cubicBezTo>
                  <a:cubicBezTo>
                    <a:pt x="1733" y="3931"/>
                    <a:pt x="1831" y="3833"/>
                    <a:pt x="1831" y="37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62"/>
            <p:cNvSpPr/>
            <p:nvPr/>
          </p:nvSpPr>
          <p:spPr>
            <a:xfrm>
              <a:off x="5996867" y="2974354"/>
              <a:ext cx="191061" cy="190189"/>
            </a:xfrm>
            <a:custGeom>
              <a:avLst/>
              <a:gdLst/>
              <a:ahLst/>
              <a:cxnLst/>
              <a:rect l="l" t="t" r="r" b="b"/>
              <a:pathLst>
                <a:path w="3684" h="3667" extrusionOk="0">
                  <a:moveTo>
                    <a:pt x="3672" y="202"/>
                  </a:moveTo>
                  <a:cubicBezTo>
                    <a:pt x="3672" y="306"/>
                    <a:pt x="3586" y="398"/>
                    <a:pt x="3471" y="398"/>
                  </a:cubicBezTo>
                  <a:cubicBezTo>
                    <a:pt x="1779" y="398"/>
                    <a:pt x="404" y="1773"/>
                    <a:pt x="404" y="3465"/>
                  </a:cubicBezTo>
                  <a:cubicBezTo>
                    <a:pt x="404" y="3574"/>
                    <a:pt x="317" y="3666"/>
                    <a:pt x="202" y="3666"/>
                  </a:cubicBezTo>
                  <a:cubicBezTo>
                    <a:pt x="93" y="3666"/>
                    <a:pt x="1" y="3580"/>
                    <a:pt x="1" y="3465"/>
                  </a:cubicBezTo>
                  <a:cubicBezTo>
                    <a:pt x="1" y="1560"/>
                    <a:pt x="1555" y="6"/>
                    <a:pt x="3459" y="6"/>
                  </a:cubicBezTo>
                  <a:cubicBezTo>
                    <a:pt x="3586" y="1"/>
                    <a:pt x="3672" y="81"/>
                    <a:pt x="3672" y="202"/>
                  </a:cubicBezTo>
                  <a:close/>
                  <a:moveTo>
                    <a:pt x="3477" y="979"/>
                  </a:moveTo>
                  <a:cubicBezTo>
                    <a:pt x="2113" y="979"/>
                    <a:pt x="996" y="2090"/>
                    <a:pt x="996" y="3459"/>
                  </a:cubicBezTo>
                  <a:cubicBezTo>
                    <a:pt x="996" y="3569"/>
                    <a:pt x="1083" y="3661"/>
                    <a:pt x="1198" y="3661"/>
                  </a:cubicBezTo>
                  <a:cubicBezTo>
                    <a:pt x="1307" y="3661"/>
                    <a:pt x="1399" y="3574"/>
                    <a:pt x="1399" y="3459"/>
                  </a:cubicBezTo>
                  <a:cubicBezTo>
                    <a:pt x="1399" y="2308"/>
                    <a:pt x="2331" y="1370"/>
                    <a:pt x="3482" y="1370"/>
                  </a:cubicBezTo>
                  <a:cubicBezTo>
                    <a:pt x="3592" y="1370"/>
                    <a:pt x="3684" y="1284"/>
                    <a:pt x="3684" y="1169"/>
                  </a:cubicBezTo>
                  <a:cubicBezTo>
                    <a:pt x="3672" y="1065"/>
                    <a:pt x="3586" y="979"/>
                    <a:pt x="3477" y="979"/>
                  </a:cubicBezTo>
                  <a:close/>
                  <a:moveTo>
                    <a:pt x="3477" y="1951"/>
                  </a:moveTo>
                  <a:cubicBezTo>
                    <a:pt x="2648" y="1951"/>
                    <a:pt x="1975" y="2630"/>
                    <a:pt x="1975" y="3459"/>
                  </a:cubicBezTo>
                  <a:cubicBezTo>
                    <a:pt x="1975" y="3563"/>
                    <a:pt x="2061" y="3661"/>
                    <a:pt x="2176" y="3661"/>
                  </a:cubicBezTo>
                  <a:cubicBezTo>
                    <a:pt x="2291" y="3661"/>
                    <a:pt x="2377" y="3574"/>
                    <a:pt x="2377" y="3459"/>
                  </a:cubicBezTo>
                  <a:cubicBezTo>
                    <a:pt x="2377" y="2843"/>
                    <a:pt x="2872" y="2349"/>
                    <a:pt x="3482" y="2349"/>
                  </a:cubicBezTo>
                  <a:cubicBezTo>
                    <a:pt x="3592" y="2349"/>
                    <a:pt x="3684" y="2262"/>
                    <a:pt x="3684" y="2147"/>
                  </a:cubicBezTo>
                  <a:cubicBezTo>
                    <a:pt x="3672" y="2043"/>
                    <a:pt x="3586" y="1951"/>
                    <a:pt x="3477" y="19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62"/>
            <p:cNvSpPr/>
            <p:nvPr/>
          </p:nvSpPr>
          <p:spPr>
            <a:xfrm>
              <a:off x="6169673" y="3213443"/>
              <a:ext cx="433726" cy="433436"/>
            </a:xfrm>
            <a:custGeom>
              <a:avLst/>
              <a:gdLst/>
              <a:ahLst/>
              <a:cxnLst/>
              <a:rect l="l" t="t" r="r" b="b"/>
              <a:pathLst>
                <a:path w="8363" h="8357" extrusionOk="0">
                  <a:moveTo>
                    <a:pt x="4179" y="0"/>
                  </a:moveTo>
                  <a:cubicBezTo>
                    <a:pt x="1877" y="0"/>
                    <a:pt x="1" y="1870"/>
                    <a:pt x="1" y="4178"/>
                  </a:cubicBezTo>
                  <a:cubicBezTo>
                    <a:pt x="1" y="6480"/>
                    <a:pt x="1871" y="8356"/>
                    <a:pt x="4179" y="8356"/>
                  </a:cubicBezTo>
                  <a:cubicBezTo>
                    <a:pt x="6481" y="8356"/>
                    <a:pt x="8363" y="6486"/>
                    <a:pt x="8363" y="4178"/>
                  </a:cubicBezTo>
                  <a:cubicBezTo>
                    <a:pt x="8363" y="1870"/>
                    <a:pt x="6481" y="0"/>
                    <a:pt x="4179" y="0"/>
                  </a:cubicBezTo>
                  <a:close/>
                  <a:moveTo>
                    <a:pt x="4179" y="8034"/>
                  </a:moveTo>
                  <a:cubicBezTo>
                    <a:pt x="3701" y="8034"/>
                    <a:pt x="3195" y="7280"/>
                    <a:pt x="2936" y="6037"/>
                  </a:cubicBezTo>
                  <a:cubicBezTo>
                    <a:pt x="3304" y="5985"/>
                    <a:pt x="3713" y="5956"/>
                    <a:pt x="4179" y="5956"/>
                  </a:cubicBezTo>
                  <a:cubicBezTo>
                    <a:pt x="4651" y="5956"/>
                    <a:pt x="5065" y="5985"/>
                    <a:pt x="5428" y="6037"/>
                  </a:cubicBezTo>
                  <a:cubicBezTo>
                    <a:pt x="5169" y="7280"/>
                    <a:pt x="4662" y="8034"/>
                    <a:pt x="4179" y="8034"/>
                  </a:cubicBezTo>
                  <a:close/>
                  <a:moveTo>
                    <a:pt x="4179" y="5640"/>
                  </a:moveTo>
                  <a:cubicBezTo>
                    <a:pt x="3690" y="5640"/>
                    <a:pt x="3252" y="5669"/>
                    <a:pt x="2872" y="5720"/>
                  </a:cubicBezTo>
                  <a:cubicBezTo>
                    <a:pt x="2798" y="5300"/>
                    <a:pt x="2757" y="4834"/>
                    <a:pt x="2752" y="4328"/>
                  </a:cubicBezTo>
                  <a:lnTo>
                    <a:pt x="5600" y="4328"/>
                  </a:lnTo>
                  <a:cubicBezTo>
                    <a:pt x="5589" y="4834"/>
                    <a:pt x="5548" y="5300"/>
                    <a:pt x="5474" y="5720"/>
                  </a:cubicBezTo>
                  <a:cubicBezTo>
                    <a:pt x="5111" y="5674"/>
                    <a:pt x="4668" y="5640"/>
                    <a:pt x="4179" y="5640"/>
                  </a:cubicBezTo>
                  <a:close/>
                  <a:moveTo>
                    <a:pt x="4179" y="317"/>
                  </a:moveTo>
                  <a:cubicBezTo>
                    <a:pt x="4662" y="317"/>
                    <a:pt x="5169" y="1071"/>
                    <a:pt x="5428" y="2314"/>
                  </a:cubicBezTo>
                  <a:cubicBezTo>
                    <a:pt x="5059" y="2365"/>
                    <a:pt x="4651" y="2394"/>
                    <a:pt x="4179" y="2394"/>
                  </a:cubicBezTo>
                  <a:cubicBezTo>
                    <a:pt x="3713" y="2394"/>
                    <a:pt x="3298" y="2365"/>
                    <a:pt x="2936" y="2314"/>
                  </a:cubicBezTo>
                  <a:cubicBezTo>
                    <a:pt x="3195" y="1071"/>
                    <a:pt x="3701" y="317"/>
                    <a:pt x="4179" y="317"/>
                  </a:cubicBezTo>
                  <a:close/>
                  <a:moveTo>
                    <a:pt x="4179" y="2705"/>
                  </a:moveTo>
                  <a:cubicBezTo>
                    <a:pt x="4668" y="2705"/>
                    <a:pt x="5111" y="2676"/>
                    <a:pt x="5491" y="2624"/>
                  </a:cubicBezTo>
                  <a:cubicBezTo>
                    <a:pt x="5560" y="3039"/>
                    <a:pt x="5606" y="3511"/>
                    <a:pt x="5612" y="4011"/>
                  </a:cubicBezTo>
                  <a:lnTo>
                    <a:pt x="2763" y="4011"/>
                  </a:lnTo>
                  <a:cubicBezTo>
                    <a:pt x="2769" y="3511"/>
                    <a:pt x="2815" y="3039"/>
                    <a:pt x="2884" y="2624"/>
                  </a:cubicBezTo>
                  <a:cubicBezTo>
                    <a:pt x="3258" y="2676"/>
                    <a:pt x="3690" y="2705"/>
                    <a:pt x="4179" y="2705"/>
                  </a:cubicBezTo>
                  <a:close/>
                  <a:moveTo>
                    <a:pt x="2441" y="4023"/>
                  </a:moveTo>
                  <a:lnTo>
                    <a:pt x="323" y="4023"/>
                  </a:lnTo>
                  <a:cubicBezTo>
                    <a:pt x="352" y="3315"/>
                    <a:pt x="576" y="2653"/>
                    <a:pt x="939" y="2095"/>
                  </a:cubicBezTo>
                  <a:cubicBezTo>
                    <a:pt x="1169" y="2210"/>
                    <a:pt x="1704" y="2440"/>
                    <a:pt x="2567" y="2584"/>
                  </a:cubicBezTo>
                  <a:cubicBezTo>
                    <a:pt x="2493" y="3021"/>
                    <a:pt x="2447" y="3511"/>
                    <a:pt x="2441" y="4023"/>
                  </a:cubicBezTo>
                  <a:close/>
                  <a:moveTo>
                    <a:pt x="2441" y="4328"/>
                  </a:moveTo>
                  <a:cubicBezTo>
                    <a:pt x="2447" y="4840"/>
                    <a:pt x="2493" y="5323"/>
                    <a:pt x="2562" y="5766"/>
                  </a:cubicBezTo>
                  <a:cubicBezTo>
                    <a:pt x="1698" y="5910"/>
                    <a:pt x="1157" y="6141"/>
                    <a:pt x="927" y="6256"/>
                  </a:cubicBezTo>
                  <a:cubicBezTo>
                    <a:pt x="570" y="5697"/>
                    <a:pt x="346" y="5036"/>
                    <a:pt x="317" y="4328"/>
                  </a:cubicBezTo>
                  <a:close/>
                  <a:moveTo>
                    <a:pt x="5922" y="4328"/>
                  </a:moveTo>
                  <a:lnTo>
                    <a:pt x="8034" y="4328"/>
                  </a:lnTo>
                  <a:cubicBezTo>
                    <a:pt x="8006" y="5036"/>
                    <a:pt x="7787" y="5697"/>
                    <a:pt x="7424" y="6256"/>
                  </a:cubicBezTo>
                  <a:cubicBezTo>
                    <a:pt x="7194" y="6141"/>
                    <a:pt x="6653" y="5910"/>
                    <a:pt x="5790" y="5766"/>
                  </a:cubicBezTo>
                  <a:cubicBezTo>
                    <a:pt x="5871" y="5323"/>
                    <a:pt x="5917" y="4840"/>
                    <a:pt x="5922" y="4328"/>
                  </a:cubicBezTo>
                  <a:close/>
                  <a:moveTo>
                    <a:pt x="5922" y="4023"/>
                  </a:moveTo>
                  <a:cubicBezTo>
                    <a:pt x="5917" y="3511"/>
                    <a:pt x="5871" y="3027"/>
                    <a:pt x="5802" y="2584"/>
                  </a:cubicBezTo>
                  <a:cubicBezTo>
                    <a:pt x="6665" y="2440"/>
                    <a:pt x="7200" y="2210"/>
                    <a:pt x="7430" y="2095"/>
                  </a:cubicBezTo>
                  <a:cubicBezTo>
                    <a:pt x="7793" y="2653"/>
                    <a:pt x="8017" y="3315"/>
                    <a:pt x="8046" y="4023"/>
                  </a:cubicBezTo>
                  <a:close/>
                  <a:moveTo>
                    <a:pt x="7246" y="1824"/>
                  </a:moveTo>
                  <a:cubicBezTo>
                    <a:pt x="7016" y="1934"/>
                    <a:pt x="6521" y="2135"/>
                    <a:pt x="5744" y="2268"/>
                  </a:cubicBezTo>
                  <a:cubicBezTo>
                    <a:pt x="5571" y="1439"/>
                    <a:pt x="5284" y="777"/>
                    <a:pt x="4927" y="380"/>
                  </a:cubicBezTo>
                  <a:cubicBezTo>
                    <a:pt x="5865" y="570"/>
                    <a:pt x="6682" y="1094"/>
                    <a:pt x="7246" y="1824"/>
                  </a:cubicBezTo>
                  <a:close/>
                  <a:moveTo>
                    <a:pt x="3442" y="386"/>
                  </a:moveTo>
                  <a:cubicBezTo>
                    <a:pt x="3085" y="777"/>
                    <a:pt x="2798" y="1439"/>
                    <a:pt x="2625" y="2273"/>
                  </a:cubicBezTo>
                  <a:cubicBezTo>
                    <a:pt x="1848" y="2141"/>
                    <a:pt x="1353" y="1940"/>
                    <a:pt x="1123" y="1836"/>
                  </a:cubicBezTo>
                  <a:cubicBezTo>
                    <a:pt x="1687" y="1094"/>
                    <a:pt x="2498" y="570"/>
                    <a:pt x="3442" y="386"/>
                  </a:cubicBezTo>
                  <a:close/>
                  <a:moveTo>
                    <a:pt x="1117" y="6526"/>
                  </a:moveTo>
                  <a:cubicBezTo>
                    <a:pt x="1347" y="6417"/>
                    <a:pt x="1842" y="6215"/>
                    <a:pt x="2619" y="6083"/>
                  </a:cubicBezTo>
                  <a:cubicBezTo>
                    <a:pt x="2792" y="6912"/>
                    <a:pt x="3080" y="7573"/>
                    <a:pt x="3431" y="7971"/>
                  </a:cubicBezTo>
                  <a:cubicBezTo>
                    <a:pt x="2498" y="7775"/>
                    <a:pt x="1687" y="7251"/>
                    <a:pt x="1117" y="6526"/>
                  </a:cubicBezTo>
                  <a:close/>
                  <a:moveTo>
                    <a:pt x="4927" y="7965"/>
                  </a:moveTo>
                  <a:cubicBezTo>
                    <a:pt x="5284" y="7573"/>
                    <a:pt x="5571" y="6912"/>
                    <a:pt x="5744" y="6077"/>
                  </a:cubicBezTo>
                  <a:cubicBezTo>
                    <a:pt x="6521" y="6204"/>
                    <a:pt x="7016" y="6411"/>
                    <a:pt x="7246" y="6515"/>
                  </a:cubicBezTo>
                  <a:cubicBezTo>
                    <a:pt x="6682" y="7251"/>
                    <a:pt x="5865" y="7775"/>
                    <a:pt x="4927" y="79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62"/>
            <p:cNvSpPr/>
            <p:nvPr/>
          </p:nvSpPr>
          <p:spPr>
            <a:xfrm>
              <a:off x="7458455" y="1867648"/>
              <a:ext cx="507993" cy="508381"/>
            </a:xfrm>
            <a:custGeom>
              <a:avLst/>
              <a:gdLst/>
              <a:ahLst/>
              <a:cxnLst/>
              <a:rect l="l" t="t" r="r" b="b"/>
              <a:pathLst>
                <a:path w="9795" h="9802" extrusionOk="0">
                  <a:moveTo>
                    <a:pt x="4897" y="1"/>
                  </a:moveTo>
                  <a:cubicBezTo>
                    <a:pt x="2198" y="1"/>
                    <a:pt x="0" y="2193"/>
                    <a:pt x="0" y="4898"/>
                  </a:cubicBezTo>
                  <a:cubicBezTo>
                    <a:pt x="0" y="7603"/>
                    <a:pt x="2193" y="9801"/>
                    <a:pt x="4897" y="9801"/>
                  </a:cubicBezTo>
                  <a:cubicBezTo>
                    <a:pt x="7596" y="9801"/>
                    <a:pt x="9795" y="7603"/>
                    <a:pt x="9795" y="4898"/>
                  </a:cubicBezTo>
                  <a:cubicBezTo>
                    <a:pt x="9795" y="2193"/>
                    <a:pt x="7602" y="1"/>
                    <a:pt x="4897" y="1"/>
                  </a:cubicBezTo>
                  <a:close/>
                  <a:moveTo>
                    <a:pt x="4897" y="9433"/>
                  </a:moveTo>
                  <a:cubicBezTo>
                    <a:pt x="4333" y="9433"/>
                    <a:pt x="3741" y="8541"/>
                    <a:pt x="3436" y="7085"/>
                  </a:cubicBezTo>
                  <a:cubicBezTo>
                    <a:pt x="3862" y="7027"/>
                    <a:pt x="4351" y="6993"/>
                    <a:pt x="4897" y="6993"/>
                  </a:cubicBezTo>
                  <a:cubicBezTo>
                    <a:pt x="5444" y="6993"/>
                    <a:pt x="5933" y="7027"/>
                    <a:pt x="6359" y="7085"/>
                  </a:cubicBezTo>
                  <a:cubicBezTo>
                    <a:pt x="6054" y="8541"/>
                    <a:pt x="5467" y="9433"/>
                    <a:pt x="4897" y="9433"/>
                  </a:cubicBezTo>
                  <a:close/>
                  <a:moveTo>
                    <a:pt x="4897" y="6619"/>
                  </a:moveTo>
                  <a:cubicBezTo>
                    <a:pt x="4322" y="6619"/>
                    <a:pt x="3810" y="6653"/>
                    <a:pt x="3367" y="6711"/>
                  </a:cubicBezTo>
                  <a:cubicBezTo>
                    <a:pt x="3286" y="6222"/>
                    <a:pt x="3234" y="5675"/>
                    <a:pt x="3223" y="5082"/>
                  </a:cubicBezTo>
                  <a:lnTo>
                    <a:pt x="6566" y="5082"/>
                  </a:lnTo>
                  <a:cubicBezTo>
                    <a:pt x="6561" y="5669"/>
                    <a:pt x="6509" y="6216"/>
                    <a:pt x="6422" y="6711"/>
                  </a:cubicBezTo>
                  <a:cubicBezTo>
                    <a:pt x="5985" y="6665"/>
                    <a:pt x="5473" y="6619"/>
                    <a:pt x="4897" y="6619"/>
                  </a:cubicBezTo>
                  <a:close/>
                  <a:moveTo>
                    <a:pt x="4897" y="375"/>
                  </a:moveTo>
                  <a:cubicBezTo>
                    <a:pt x="5456" y="375"/>
                    <a:pt x="6054" y="1267"/>
                    <a:pt x="6359" y="2723"/>
                  </a:cubicBezTo>
                  <a:cubicBezTo>
                    <a:pt x="5933" y="2780"/>
                    <a:pt x="5444" y="2815"/>
                    <a:pt x="4897" y="2815"/>
                  </a:cubicBezTo>
                  <a:cubicBezTo>
                    <a:pt x="4351" y="2815"/>
                    <a:pt x="3862" y="2780"/>
                    <a:pt x="3436" y="2723"/>
                  </a:cubicBezTo>
                  <a:cubicBezTo>
                    <a:pt x="3746" y="1261"/>
                    <a:pt x="4333" y="375"/>
                    <a:pt x="4897" y="375"/>
                  </a:cubicBezTo>
                  <a:close/>
                  <a:moveTo>
                    <a:pt x="4897" y="3183"/>
                  </a:moveTo>
                  <a:cubicBezTo>
                    <a:pt x="5473" y="3183"/>
                    <a:pt x="5985" y="3143"/>
                    <a:pt x="6428" y="3085"/>
                  </a:cubicBezTo>
                  <a:cubicBezTo>
                    <a:pt x="6509" y="3574"/>
                    <a:pt x="6561" y="4121"/>
                    <a:pt x="6572" y="4720"/>
                  </a:cubicBezTo>
                  <a:lnTo>
                    <a:pt x="3229" y="4720"/>
                  </a:lnTo>
                  <a:cubicBezTo>
                    <a:pt x="3234" y="4127"/>
                    <a:pt x="3286" y="3580"/>
                    <a:pt x="3372" y="3085"/>
                  </a:cubicBezTo>
                  <a:cubicBezTo>
                    <a:pt x="3810" y="3143"/>
                    <a:pt x="4322" y="3183"/>
                    <a:pt x="4897" y="3183"/>
                  </a:cubicBezTo>
                  <a:close/>
                  <a:moveTo>
                    <a:pt x="2860" y="4720"/>
                  </a:moveTo>
                  <a:lnTo>
                    <a:pt x="380" y="4720"/>
                  </a:lnTo>
                  <a:cubicBezTo>
                    <a:pt x="414" y="3891"/>
                    <a:pt x="673" y="3114"/>
                    <a:pt x="1094" y="2464"/>
                  </a:cubicBezTo>
                  <a:cubicBezTo>
                    <a:pt x="1364" y="2596"/>
                    <a:pt x="1991" y="2872"/>
                    <a:pt x="3004" y="3039"/>
                  </a:cubicBezTo>
                  <a:cubicBezTo>
                    <a:pt x="2918" y="3551"/>
                    <a:pt x="2866" y="4115"/>
                    <a:pt x="2860" y="4720"/>
                  </a:cubicBezTo>
                  <a:close/>
                  <a:moveTo>
                    <a:pt x="2860" y="5088"/>
                  </a:moveTo>
                  <a:cubicBezTo>
                    <a:pt x="2866" y="5686"/>
                    <a:pt x="2918" y="6250"/>
                    <a:pt x="3010" y="6768"/>
                  </a:cubicBezTo>
                  <a:cubicBezTo>
                    <a:pt x="1997" y="6935"/>
                    <a:pt x="1370" y="7211"/>
                    <a:pt x="1099" y="7344"/>
                  </a:cubicBezTo>
                  <a:cubicBezTo>
                    <a:pt x="673" y="6688"/>
                    <a:pt x="414" y="5917"/>
                    <a:pt x="386" y="5088"/>
                  </a:cubicBezTo>
                  <a:close/>
                  <a:moveTo>
                    <a:pt x="6940" y="5088"/>
                  </a:moveTo>
                  <a:lnTo>
                    <a:pt x="9421" y="5088"/>
                  </a:lnTo>
                  <a:cubicBezTo>
                    <a:pt x="9386" y="5917"/>
                    <a:pt x="9127" y="6694"/>
                    <a:pt x="8707" y="7344"/>
                  </a:cubicBezTo>
                  <a:cubicBezTo>
                    <a:pt x="8437" y="7211"/>
                    <a:pt x="7809" y="6935"/>
                    <a:pt x="6797" y="6768"/>
                  </a:cubicBezTo>
                  <a:cubicBezTo>
                    <a:pt x="6883" y="6250"/>
                    <a:pt x="6935" y="5686"/>
                    <a:pt x="6940" y="5088"/>
                  </a:cubicBezTo>
                  <a:close/>
                  <a:moveTo>
                    <a:pt x="6940" y="4720"/>
                  </a:moveTo>
                  <a:cubicBezTo>
                    <a:pt x="6935" y="4121"/>
                    <a:pt x="6883" y="3557"/>
                    <a:pt x="6791" y="3039"/>
                  </a:cubicBezTo>
                  <a:cubicBezTo>
                    <a:pt x="7804" y="2872"/>
                    <a:pt x="8431" y="2596"/>
                    <a:pt x="8701" y="2464"/>
                  </a:cubicBezTo>
                  <a:cubicBezTo>
                    <a:pt x="9127" y="3114"/>
                    <a:pt x="9386" y="3891"/>
                    <a:pt x="9415" y="4720"/>
                  </a:cubicBezTo>
                  <a:close/>
                  <a:moveTo>
                    <a:pt x="8494" y="2153"/>
                  </a:moveTo>
                  <a:cubicBezTo>
                    <a:pt x="8218" y="2280"/>
                    <a:pt x="7637" y="2521"/>
                    <a:pt x="6722" y="2671"/>
                  </a:cubicBezTo>
                  <a:cubicBezTo>
                    <a:pt x="6520" y="1698"/>
                    <a:pt x="6187" y="921"/>
                    <a:pt x="5772" y="461"/>
                  </a:cubicBezTo>
                  <a:cubicBezTo>
                    <a:pt x="6877" y="674"/>
                    <a:pt x="7832" y="1290"/>
                    <a:pt x="8494" y="2153"/>
                  </a:cubicBezTo>
                  <a:close/>
                  <a:moveTo>
                    <a:pt x="4028" y="461"/>
                  </a:moveTo>
                  <a:cubicBezTo>
                    <a:pt x="3614" y="921"/>
                    <a:pt x="3280" y="1698"/>
                    <a:pt x="3079" y="2671"/>
                  </a:cubicBezTo>
                  <a:cubicBezTo>
                    <a:pt x="2164" y="2516"/>
                    <a:pt x="1583" y="2280"/>
                    <a:pt x="1306" y="2153"/>
                  </a:cubicBezTo>
                  <a:cubicBezTo>
                    <a:pt x="1968" y="1290"/>
                    <a:pt x="2924" y="674"/>
                    <a:pt x="4028" y="461"/>
                  </a:cubicBezTo>
                  <a:close/>
                  <a:moveTo>
                    <a:pt x="1306" y="7655"/>
                  </a:moveTo>
                  <a:cubicBezTo>
                    <a:pt x="1583" y="7528"/>
                    <a:pt x="2164" y="7286"/>
                    <a:pt x="3079" y="7137"/>
                  </a:cubicBezTo>
                  <a:cubicBezTo>
                    <a:pt x="3280" y="8109"/>
                    <a:pt x="3614" y="8886"/>
                    <a:pt x="4028" y="9346"/>
                  </a:cubicBezTo>
                  <a:cubicBezTo>
                    <a:pt x="2924" y="9128"/>
                    <a:pt x="1968" y="8512"/>
                    <a:pt x="1306" y="7655"/>
                  </a:cubicBezTo>
                  <a:close/>
                  <a:moveTo>
                    <a:pt x="5772" y="9346"/>
                  </a:moveTo>
                  <a:cubicBezTo>
                    <a:pt x="6187" y="8886"/>
                    <a:pt x="6520" y="8109"/>
                    <a:pt x="6722" y="7137"/>
                  </a:cubicBezTo>
                  <a:cubicBezTo>
                    <a:pt x="7637" y="7286"/>
                    <a:pt x="8218" y="7528"/>
                    <a:pt x="8494" y="7655"/>
                  </a:cubicBezTo>
                  <a:cubicBezTo>
                    <a:pt x="7832" y="8512"/>
                    <a:pt x="6877" y="9128"/>
                    <a:pt x="5772" y="93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62"/>
            <p:cNvSpPr/>
            <p:nvPr/>
          </p:nvSpPr>
          <p:spPr>
            <a:xfrm>
              <a:off x="6152662" y="1867648"/>
              <a:ext cx="353754" cy="450759"/>
            </a:xfrm>
            <a:custGeom>
              <a:avLst/>
              <a:gdLst/>
              <a:ahLst/>
              <a:cxnLst/>
              <a:rect l="l" t="t" r="r" b="b"/>
              <a:pathLst>
                <a:path w="6821" h="8691" extrusionOk="0">
                  <a:moveTo>
                    <a:pt x="6164" y="3540"/>
                  </a:moveTo>
                  <a:lnTo>
                    <a:pt x="5830" y="3540"/>
                  </a:lnTo>
                  <a:lnTo>
                    <a:pt x="5830" y="2418"/>
                  </a:lnTo>
                  <a:cubicBezTo>
                    <a:pt x="5830" y="1077"/>
                    <a:pt x="4748" y="1"/>
                    <a:pt x="3413" y="1"/>
                  </a:cubicBezTo>
                  <a:cubicBezTo>
                    <a:pt x="2078" y="1"/>
                    <a:pt x="991" y="1088"/>
                    <a:pt x="991" y="2418"/>
                  </a:cubicBezTo>
                  <a:lnTo>
                    <a:pt x="991" y="3540"/>
                  </a:lnTo>
                  <a:lnTo>
                    <a:pt x="663" y="3540"/>
                  </a:lnTo>
                  <a:cubicBezTo>
                    <a:pt x="294" y="3540"/>
                    <a:pt x="1" y="3833"/>
                    <a:pt x="1" y="4202"/>
                  </a:cubicBezTo>
                  <a:lnTo>
                    <a:pt x="1" y="8029"/>
                  </a:lnTo>
                  <a:cubicBezTo>
                    <a:pt x="1" y="8397"/>
                    <a:pt x="294" y="8690"/>
                    <a:pt x="663" y="8690"/>
                  </a:cubicBezTo>
                  <a:lnTo>
                    <a:pt x="6158" y="8690"/>
                  </a:lnTo>
                  <a:cubicBezTo>
                    <a:pt x="6521" y="8690"/>
                    <a:pt x="6820" y="8397"/>
                    <a:pt x="6820" y="8029"/>
                  </a:cubicBezTo>
                  <a:lnTo>
                    <a:pt x="6820" y="4202"/>
                  </a:lnTo>
                  <a:cubicBezTo>
                    <a:pt x="6820" y="3833"/>
                    <a:pt x="6521" y="3540"/>
                    <a:pt x="6164" y="3540"/>
                  </a:cubicBezTo>
                  <a:close/>
                  <a:moveTo>
                    <a:pt x="1273" y="2418"/>
                  </a:moveTo>
                  <a:cubicBezTo>
                    <a:pt x="1273" y="1238"/>
                    <a:pt x="2234" y="277"/>
                    <a:pt x="3413" y="277"/>
                  </a:cubicBezTo>
                  <a:cubicBezTo>
                    <a:pt x="4593" y="277"/>
                    <a:pt x="5560" y="1238"/>
                    <a:pt x="5560" y="2418"/>
                  </a:cubicBezTo>
                  <a:lnTo>
                    <a:pt x="5560" y="3540"/>
                  </a:lnTo>
                  <a:lnTo>
                    <a:pt x="4818" y="3540"/>
                  </a:lnTo>
                  <a:lnTo>
                    <a:pt x="4818" y="2418"/>
                  </a:lnTo>
                  <a:cubicBezTo>
                    <a:pt x="4818" y="1647"/>
                    <a:pt x="4190" y="1014"/>
                    <a:pt x="3413" y="1014"/>
                  </a:cubicBezTo>
                  <a:cubicBezTo>
                    <a:pt x="2636" y="1014"/>
                    <a:pt x="2015" y="1641"/>
                    <a:pt x="2015" y="2418"/>
                  </a:cubicBezTo>
                  <a:lnTo>
                    <a:pt x="2015" y="3540"/>
                  </a:lnTo>
                  <a:lnTo>
                    <a:pt x="1273" y="3540"/>
                  </a:lnTo>
                  <a:close/>
                  <a:moveTo>
                    <a:pt x="4536" y="3540"/>
                  </a:moveTo>
                  <a:lnTo>
                    <a:pt x="2285" y="3540"/>
                  </a:lnTo>
                  <a:lnTo>
                    <a:pt x="2285" y="2418"/>
                  </a:lnTo>
                  <a:cubicBezTo>
                    <a:pt x="2285" y="1796"/>
                    <a:pt x="2792" y="1290"/>
                    <a:pt x="3413" y="1290"/>
                  </a:cubicBezTo>
                  <a:cubicBezTo>
                    <a:pt x="4041" y="1290"/>
                    <a:pt x="4541" y="1790"/>
                    <a:pt x="4541" y="2418"/>
                  </a:cubicBezTo>
                  <a:lnTo>
                    <a:pt x="4541" y="3540"/>
                  </a:lnTo>
                  <a:close/>
                  <a:moveTo>
                    <a:pt x="6544" y="8029"/>
                  </a:moveTo>
                  <a:cubicBezTo>
                    <a:pt x="6544" y="8236"/>
                    <a:pt x="6371" y="8408"/>
                    <a:pt x="6164" y="8408"/>
                  </a:cubicBezTo>
                  <a:lnTo>
                    <a:pt x="663" y="8408"/>
                  </a:lnTo>
                  <a:cubicBezTo>
                    <a:pt x="450" y="8408"/>
                    <a:pt x="277" y="8236"/>
                    <a:pt x="277" y="8029"/>
                  </a:cubicBezTo>
                  <a:lnTo>
                    <a:pt x="277" y="4202"/>
                  </a:lnTo>
                  <a:cubicBezTo>
                    <a:pt x="277" y="3995"/>
                    <a:pt x="450" y="3822"/>
                    <a:pt x="663" y="3822"/>
                  </a:cubicBezTo>
                  <a:lnTo>
                    <a:pt x="991" y="3822"/>
                  </a:lnTo>
                  <a:lnTo>
                    <a:pt x="2285" y="3822"/>
                  </a:lnTo>
                  <a:lnTo>
                    <a:pt x="4536" y="3822"/>
                  </a:lnTo>
                  <a:lnTo>
                    <a:pt x="5830" y="3822"/>
                  </a:lnTo>
                  <a:lnTo>
                    <a:pt x="6164" y="3822"/>
                  </a:lnTo>
                  <a:cubicBezTo>
                    <a:pt x="6371" y="3822"/>
                    <a:pt x="6544" y="3995"/>
                    <a:pt x="6544" y="42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62"/>
            <p:cNvSpPr/>
            <p:nvPr/>
          </p:nvSpPr>
          <p:spPr>
            <a:xfrm>
              <a:off x="6250267" y="2119858"/>
              <a:ext cx="168398" cy="128107"/>
            </a:xfrm>
            <a:custGeom>
              <a:avLst/>
              <a:gdLst/>
              <a:ahLst/>
              <a:cxnLst/>
              <a:rect l="l" t="t" r="r" b="b"/>
              <a:pathLst>
                <a:path w="3247" h="2470" extrusionOk="0">
                  <a:moveTo>
                    <a:pt x="3246" y="317"/>
                  </a:moveTo>
                  <a:lnTo>
                    <a:pt x="1491" y="2469"/>
                  </a:lnTo>
                  <a:lnTo>
                    <a:pt x="1" y="1013"/>
                  </a:lnTo>
                  <a:lnTo>
                    <a:pt x="340" y="662"/>
                  </a:lnTo>
                  <a:lnTo>
                    <a:pt x="1445" y="1744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62"/>
            <p:cNvSpPr/>
            <p:nvPr/>
          </p:nvSpPr>
          <p:spPr>
            <a:xfrm>
              <a:off x="7858367" y="3112569"/>
              <a:ext cx="308945" cy="394018"/>
            </a:xfrm>
            <a:custGeom>
              <a:avLst/>
              <a:gdLst/>
              <a:ahLst/>
              <a:cxnLst/>
              <a:rect l="l" t="t" r="r" b="b"/>
              <a:pathLst>
                <a:path w="5957" h="7597" extrusionOk="0">
                  <a:moveTo>
                    <a:pt x="5381" y="3102"/>
                  </a:moveTo>
                  <a:lnTo>
                    <a:pt x="5094" y="3102"/>
                  </a:lnTo>
                  <a:lnTo>
                    <a:pt x="5094" y="2118"/>
                  </a:lnTo>
                  <a:cubicBezTo>
                    <a:pt x="5094" y="950"/>
                    <a:pt x="4144" y="0"/>
                    <a:pt x="2976" y="0"/>
                  </a:cubicBezTo>
                  <a:cubicBezTo>
                    <a:pt x="1813" y="0"/>
                    <a:pt x="864" y="950"/>
                    <a:pt x="864" y="2118"/>
                  </a:cubicBezTo>
                  <a:lnTo>
                    <a:pt x="864" y="3102"/>
                  </a:lnTo>
                  <a:lnTo>
                    <a:pt x="576" y="3102"/>
                  </a:lnTo>
                  <a:cubicBezTo>
                    <a:pt x="260" y="3102"/>
                    <a:pt x="1" y="3361"/>
                    <a:pt x="1" y="3677"/>
                  </a:cubicBezTo>
                  <a:lnTo>
                    <a:pt x="1" y="7021"/>
                  </a:lnTo>
                  <a:cubicBezTo>
                    <a:pt x="1" y="7337"/>
                    <a:pt x="260" y="7596"/>
                    <a:pt x="576" y="7596"/>
                  </a:cubicBezTo>
                  <a:lnTo>
                    <a:pt x="5370" y="7596"/>
                  </a:lnTo>
                  <a:cubicBezTo>
                    <a:pt x="5686" y="7596"/>
                    <a:pt x="5945" y="7337"/>
                    <a:pt x="5945" y="7021"/>
                  </a:cubicBezTo>
                  <a:lnTo>
                    <a:pt x="5945" y="3677"/>
                  </a:lnTo>
                  <a:cubicBezTo>
                    <a:pt x="5957" y="3361"/>
                    <a:pt x="5698" y="3102"/>
                    <a:pt x="5381" y="3102"/>
                  </a:cubicBezTo>
                  <a:close/>
                  <a:moveTo>
                    <a:pt x="1105" y="2124"/>
                  </a:moveTo>
                  <a:cubicBezTo>
                    <a:pt x="1105" y="1093"/>
                    <a:pt x="1946" y="253"/>
                    <a:pt x="2976" y="253"/>
                  </a:cubicBezTo>
                  <a:cubicBezTo>
                    <a:pt x="4006" y="253"/>
                    <a:pt x="4846" y="1093"/>
                    <a:pt x="4846" y="2124"/>
                  </a:cubicBezTo>
                  <a:lnTo>
                    <a:pt x="4846" y="3108"/>
                  </a:lnTo>
                  <a:lnTo>
                    <a:pt x="4202" y="3108"/>
                  </a:lnTo>
                  <a:lnTo>
                    <a:pt x="4202" y="2124"/>
                  </a:lnTo>
                  <a:cubicBezTo>
                    <a:pt x="4202" y="1450"/>
                    <a:pt x="3655" y="904"/>
                    <a:pt x="2976" y="904"/>
                  </a:cubicBezTo>
                  <a:cubicBezTo>
                    <a:pt x="2302" y="904"/>
                    <a:pt x="1756" y="1450"/>
                    <a:pt x="1756" y="2124"/>
                  </a:cubicBezTo>
                  <a:lnTo>
                    <a:pt x="1756" y="3108"/>
                  </a:lnTo>
                  <a:lnTo>
                    <a:pt x="1105" y="3108"/>
                  </a:lnTo>
                  <a:close/>
                  <a:moveTo>
                    <a:pt x="3960" y="3102"/>
                  </a:moveTo>
                  <a:lnTo>
                    <a:pt x="1997" y="3102"/>
                  </a:lnTo>
                  <a:lnTo>
                    <a:pt x="1997" y="2118"/>
                  </a:lnTo>
                  <a:cubicBezTo>
                    <a:pt x="1997" y="1577"/>
                    <a:pt x="2435" y="1128"/>
                    <a:pt x="2982" y="1128"/>
                  </a:cubicBezTo>
                  <a:cubicBezTo>
                    <a:pt x="3523" y="1128"/>
                    <a:pt x="3966" y="1571"/>
                    <a:pt x="3966" y="2118"/>
                  </a:cubicBezTo>
                  <a:lnTo>
                    <a:pt x="3966" y="3102"/>
                  </a:lnTo>
                  <a:close/>
                  <a:moveTo>
                    <a:pt x="5709" y="7021"/>
                  </a:moveTo>
                  <a:cubicBezTo>
                    <a:pt x="5709" y="7211"/>
                    <a:pt x="5560" y="7355"/>
                    <a:pt x="5381" y="7355"/>
                  </a:cubicBezTo>
                  <a:lnTo>
                    <a:pt x="582" y="7355"/>
                  </a:lnTo>
                  <a:cubicBezTo>
                    <a:pt x="392" y="7355"/>
                    <a:pt x="248" y="7205"/>
                    <a:pt x="248" y="7021"/>
                  </a:cubicBezTo>
                  <a:lnTo>
                    <a:pt x="248" y="3677"/>
                  </a:lnTo>
                  <a:cubicBezTo>
                    <a:pt x="248" y="3487"/>
                    <a:pt x="403" y="3344"/>
                    <a:pt x="582" y="3344"/>
                  </a:cubicBezTo>
                  <a:lnTo>
                    <a:pt x="870" y="3344"/>
                  </a:lnTo>
                  <a:lnTo>
                    <a:pt x="1997" y="3344"/>
                  </a:lnTo>
                  <a:lnTo>
                    <a:pt x="3960" y="3344"/>
                  </a:lnTo>
                  <a:lnTo>
                    <a:pt x="5094" y="3344"/>
                  </a:lnTo>
                  <a:lnTo>
                    <a:pt x="5381" y="3344"/>
                  </a:lnTo>
                  <a:cubicBezTo>
                    <a:pt x="5565" y="3344"/>
                    <a:pt x="5709" y="3499"/>
                    <a:pt x="5709" y="36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62"/>
            <p:cNvSpPr/>
            <p:nvPr/>
          </p:nvSpPr>
          <p:spPr>
            <a:xfrm>
              <a:off x="7943421" y="3334024"/>
              <a:ext cx="146926" cy="111043"/>
            </a:xfrm>
            <a:custGeom>
              <a:avLst/>
              <a:gdLst/>
              <a:ahLst/>
              <a:cxnLst/>
              <a:rect l="l" t="t" r="r" b="b"/>
              <a:pathLst>
                <a:path w="2833" h="2141" extrusionOk="0">
                  <a:moveTo>
                    <a:pt x="2832" y="265"/>
                  </a:moveTo>
                  <a:lnTo>
                    <a:pt x="1301" y="2141"/>
                  </a:lnTo>
                  <a:lnTo>
                    <a:pt x="1" y="875"/>
                  </a:lnTo>
                  <a:lnTo>
                    <a:pt x="294" y="576"/>
                  </a:lnTo>
                  <a:lnTo>
                    <a:pt x="1255" y="1514"/>
                  </a:lnTo>
                  <a:lnTo>
                    <a:pt x="2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62"/>
            <p:cNvSpPr/>
            <p:nvPr/>
          </p:nvSpPr>
          <p:spPr>
            <a:xfrm>
              <a:off x="6230248" y="1924386"/>
              <a:ext cx="1742165" cy="1871756"/>
            </a:xfrm>
            <a:custGeom>
              <a:avLst/>
              <a:gdLst/>
              <a:ahLst/>
              <a:cxnLst/>
              <a:rect l="l" t="t" r="r" b="b"/>
              <a:pathLst>
                <a:path w="33592" h="36089" extrusionOk="0">
                  <a:moveTo>
                    <a:pt x="16794" y="0"/>
                  </a:moveTo>
                  <a:cubicBezTo>
                    <a:pt x="9928" y="351"/>
                    <a:pt x="4075" y="5059"/>
                    <a:pt x="1" y="9426"/>
                  </a:cubicBezTo>
                  <a:cubicBezTo>
                    <a:pt x="1" y="34604"/>
                    <a:pt x="16794" y="36089"/>
                    <a:pt x="16794" y="36089"/>
                  </a:cubicBezTo>
                  <a:cubicBezTo>
                    <a:pt x="16794" y="36089"/>
                    <a:pt x="33592" y="34604"/>
                    <a:pt x="33592" y="9426"/>
                  </a:cubicBezTo>
                  <a:cubicBezTo>
                    <a:pt x="29512" y="5059"/>
                    <a:pt x="23665" y="351"/>
                    <a:pt x="16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62"/>
            <p:cNvSpPr/>
            <p:nvPr/>
          </p:nvSpPr>
          <p:spPr>
            <a:xfrm>
              <a:off x="6250267" y="1946428"/>
              <a:ext cx="1702179" cy="1828241"/>
            </a:xfrm>
            <a:custGeom>
              <a:avLst/>
              <a:gdLst/>
              <a:ahLst/>
              <a:cxnLst/>
              <a:rect l="l" t="t" r="r" b="b"/>
              <a:pathLst>
                <a:path w="32821" h="35250" extrusionOk="0">
                  <a:moveTo>
                    <a:pt x="16408" y="1"/>
                  </a:moveTo>
                  <a:cubicBezTo>
                    <a:pt x="9697" y="346"/>
                    <a:pt x="3989" y="4933"/>
                    <a:pt x="1" y="9209"/>
                  </a:cubicBezTo>
                  <a:cubicBezTo>
                    <a:pt x="1" y="33793"/>
                    <a:pt x="16408" y="35249"/>
                    <a:pt x="16408" y="35249"/>
                  </a:cubicBezTo>
                  <a:cubicBezTo>
                    <a:pt x="16408" y="35249"/>
                    <a:pt x="32820" y="33793"/>
                    <a:pt x="32820" y="9209"/>
                  </a:cubicBezTo>
                  <a:cubicBezTo>
                    <a:pt x="28826" y="4933"/>
                    <a:pt x="23112" y="340"/>
                    <a:pt x="1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62"/>
            <p:cNvSpPr/>
            <p:nvPr/>
          </p:nvSpPr>
          <p:spPr>
            <a:xfrm>
              <a:off x="6269975" y="1967640"/>
              <a:ext cx="1662452" cy="1785816"/>
            </a:xfrm>
            <a:custGeom>
              <a:avLst/>
              <a:gdLst/>
              <a:ahLst/>
              <a:cxnLst/>
              <a:rect l="l" t="t" r="r" b="b"/>
              <a:pathLst>
                <a:path w="32055" h="34432" extrusionOk="0">
                  <a:moveTo>
                    <a:pt x="16028" y="1"/>
                  </a:moveTo>
                  <a:cubicBezTo>
                    <a:pt x="9479" y="334"/>
                    <a:pt x="3896" y="4823"/>
                    <a:pt x="0" y="8995"/>
                  </a:cubicBezTo>
                  <a:cubicBezTo>
                    <a:pt x="0" y="33010"/>
                    <a:pt x="16028" y="34432"/>
                    <a:pt x="16028" y="34432"/>
                  </a:cubicBezTo>
                  <a:cubicBezTo>
                    <a:pt x="16028" y="34432"/>
                    <a:pt x="32055" y="33004"/>
                    <a:pt x="32055" y="8995"/>
                  </a:cubicBezTo>
                  <a:cubicBezTo>
                    <a:pt x="28159" y="4823"/>
                    <a:pt x="22582" y="329"/>
                    <a:pt x="160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62"/>
            <p:cNvSpPr/>
            <p:nvPr/>
          </p:nvSpPr>
          <p:spPr>
            <a:xfrm>
              <a:off x="6329669" y="2031535"/>
              <a:ext cx="1543065" cy="1657761"/>
            </a:xfrm>
            <a:custGeom>
              <a:avLst/>
              <a:gdLst/>
              <a:ahLst/>
              <a:cxnLst/>
              <a:rect l="l" t="t" r="r" b="b"/>
              <a:pathLst>
                <a:path w="29753" h="31963" extrusionOk="0">
                  <a:moveTo>
                    <a:pt x="14877" y="0"/>
                  </a:moveTo>
                  <a:cubicBezTo>
                    <a:pt x="8794" y="311"/>
                    <a:pt x="3614" y="4472"/>
                    <a:pt x="0" y="8345"/>
                  </a:cubicBezTo>
                  <a:cubicBezTo>
                    <a:pt x="0" y="30644"/>
                    <a:pt x="14877" y="31962"/>
                    <a:pt x="14877" y="31962"/>
                  </a:cubicBezTo>
                  <a:cubicBezTo>
                    <a:pt x="14877" y="31962"/>
                    <a:pt x="29753" y="30644"/>
                    <a:pt x="29753" y="8345"/>
                  </a:cubicBezTo>
                  <a:cubicBezTo>
                    <a:pt x="26139" y="4483"/>
                    <a:pt x="20959" y="311"/>
                    <a:pt x="148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62"/>
            <p:cNvSpPr/>
            <p:nvPr/>
          </p:nvSpPr>
          <p:spPr>
            <a:xfrm>
              <a:off x="6349947" y="2053577"/>
              <a:ext cx="1502820" cy="1613935"/>
            </a:xfrm>
            <a:custGeom>
              <a:avLst/>
              <a:gdLst/>
              <a:ahLst/>
              <a:cxnLst/>
              <a:rect l="l" t="t" r="r" b="b"/>
              <a:pathLst>
                <a:path w="28977" h="31118" extrusionOk="0">
                  <a:moveTo>
                    <a:pt x="14486" y="1"/>
                  </a:moveTo>
                  <a:cubicBezTo>
                    <a:pt x="8570" y="300"/>
                    <a:pt x="3523" y="4357"/>
                    <a:pt x="1" y="8127"/>
                  </a:cubicBezTo>
                  <a:cubicBezTo>
                    <a:pt x="1" y="29840"/>
                    <a:pt x="14486" y="31117"/>
                    <a:pt x="14486" y="31117"/>
                  </a:cubicBezTo>
                  <a:cubicBezTo>
                    <a:pt x="14486" y="31117"/>
                    <a:pt x="28976" y="29828"/>
                    <a:pt x="28976" y="8127"/>
                  </a:cubicBezTo>
                  <a:cubicBezTo>
                    <a:pt x="25449" y="4357"/>
                    <a:pt x="20407" y="300"/>
                    <a:pt x="14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62"/>
            <p:cNvSpPr/>
            <p:nvPr/>
          </p:nvSpPr>
          <p:spPr>
            <a:xfrm>
              <a:off x="6386359" y="2092683"/>
              <a:ext cx="716975" cy="1535723"/>
            </a:xfrm>
            <a:custGeom>
              <a:avLst/>
              <a:gdLst/>
              <a:ahLst/>
              <a:cxnLst/>
              <a:rect l="l" t="t" r="r" b="b"/>
              <a:pathLst>
                <a:path w="13784" h="29610" extrusionOk="0">
                  <a:moveTo>
                    <a:pt x="13784" y="29609"/>
                  </a:moveTo>
                  <a:lnTo>
                    <a:pt x="13784" y="1"/>
                  </a:lnTo>
                  <a:cubicBezTo>
                    <a:pt x="8155" y="289"/>
                    <a:pt x="3356" y="4144"/>
                    <a:pt x="12" y="7735"/>
                  </a:cubicBezTo>
                  <a:cubicBezTo>
                    <a:pt x="1" y="28384"/>
                    <a:pt x="13784" y="29609"/>
                    <a:pt x="13784" y="296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62"/>
            <p:cNvSpPr/>
            <p:nvPr/>
          </p:nvSpPr>
          <p:spPr>
            <a:xfrm>
              <a:off x="7098763" y="2092683"/>
              <a:ext cx="716973" cy="1535723"/>
            </a:xfrm>
            <a:custGeom>
              <a:avLst/>
              <a:gdLst/>
              <a:ahLst/>
              <a:cxnLst/>
              <a:rect l="l" t="t" r="r" b="b"/>
              <a:pathLst>
                <a:path w="13778" h="29610" extrusionOk="0">
                  <a:moveTo>
                    <a:pt x="1" y="29609"/>
                  </a:moveTo>
                  <a:lnTo>
                    <a:pt x="1" y="1"/>
                  </a:lnTo>
                  <a:cubicBezTo>
                    <a:pt x="5635" y="289"/>
                    <a:pt x="10434" y="4144"/>
                    <a:pt x="13778" y="7735"/>
                  </a:cubicBezTo>
                  <a:cubicBezTo>
                    <a:pt x="13778" y="28384"/>
                    <a:pt x="1" y="29609"/>
                    <a:pt x="1" y="296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62"/>
            <p:cNvSpPr/>
            <p:nvPr/>
          </p:nvSpPr>
          <p:spPr>
            <a:xfrm>
              <a:off x="6799128" y="2718254"/>
              <a:ext cx="604146" cy="491058"/>
            </a:xfrm>
            <a:custGeom>
              <a:avLst/>
              <a:gdLst/>
              <a:ahLst/>
              <a:cxnLst/>
              <a:rect l="l" t="t" r="r" b="b"/>
              <a:pathLst>
                <a:path w="11649" h="9468" extrusionOk="0">
                  <a:moveTo>
                    <a:pt x="10860" y="9468"/>
                  </a:moveTo>
                  <a:lnTo>
                    <a:pt x="783" y="9468"/>
                  </a:lnTo>
                  <a:cubicBezTo>
                    <a:pt x="352" y="9468"/>
                    <a:pt x="1" y="9117"/>
                    <a:pt x="1" y="8685"/>
                  </a:cubicBezTo>
                  <a:lnTo>
                    <a:pt x="1" y="784"/>
                  </a:lnTo>
                  <a:cubicBezTo>
                    <a:pt x="1" y="352"/>
                    <a:pt x="352" y="1"/>
                    <a:pt x="783" y="1"/>
                  </a:cubicBezTo>
                  <a:lnTo>
                    <a:pt x="10860" y="1"/>
                  </a:lnTo>
                  <a:cubicBezTo>
                    <a:pt x="11292" y="1"/>
                    <a:pt x="11648" y="352"/>
                    <a:pt x="11648" y="784"/>
                  </a:cubicBezTo>
                  <a:lnTo>
                    <a:pt x="11648" y="8685"/>
                  </a:lnTo>
                  <a:cubicBezTo>
                    <a:pt x="11648" y="9117"/>
                    <a:pt x="11292" y="9468"/>
                    <a:pt x="10860" y="94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62"/>
            <p:cNvSpPr/>
            <p:nvPr/>
          </p:nvSpPr>
          <p:spPr>
            <a:xfrm>
              <a:off x="6835276" y="2747816"/>
              <a:ext cx="532161" cy="432243"/>
            </a:xfrm>
            <a:custGeom>
              <a:avLst/>
              <a:gdLst/>
              <a:ahLst/>
              <a:cxnLst/>
              <a:rect l="l" t="t" r="r" b="b"/>
              <a:pathLst>
                <a:path w="10261" h="8334" extrusionOk="0">
                  <a:moveTo>
                    <a:pt x="9570" y="8334"/>
                  </a:moveTo>
                  <a:lnTo>
                    <a:pt x="691" y="8334"/>
                  </a:lnTo>
                  <a:cubicBezTo>
                    <a:pt x="311" y="8334"/>
                    <a:pt x="0" y="8029"/>
                    <a:pt x="0" y="7643"/>
                  </a:cubicBezTo>
                  <a:lnTo>
                    <a:pt x="0" y="691"/>
                  </a:lnTo>
                  <a:cubicBezTo>
                    <a:pt x="0" y="306"/>
                    <a:pt x="311" y="1"/>
                    <a:pt x="691" y="1"/>
                  </a:cubicBezTo>
                  <a:lnTo>
                    <a:pt x="9570" y="1"/>
                  </a:lnTo>
                  <a:cubicBezTo>
                    <a:pt x="9950" y="1"/>
                    <a:pt x="10261" y="306"/>
                    <a:pt x="10261" y="691"/>
                  </a:cubicBezTo>
                  <a:lnTo>
                    <a:pt x="10261" y="7643"/>
                  </a:lnTo>
                  <a:cubicBezTo>
                    <a:pt x="10249" y="8029"/>
                    <a:pt x="9950" y="8334"/>
                    <a:pt x="9570" y="83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62"/>
            <p:cNvSpPr/>
            <p:nvPr/>
          </p:nvSpPr>
          <p:spPr>
            <a:xfrm>
              <a:off x="6900623" y="2421027"/>
              <a:ext cx="402972" cy="297290"/>
            </a:xfrm>
            <a:custGeom>
              <a:avLst/>
              <a:gdLst/>
              <a:ahLst/>
              <a:cxnLst/>
              <a:rect l="l" t="t" r="r" b="b"/>
              <a:pathLst>
                <a:path w="7770" h="5732" extrusionOk="0">
                  <a:moveTo>
                    <a:pt x="7752" y="5732"/>
                  </a:moveTo>
                  <a:lnTo>
                    <a:pt x="6308" y="5732"/>
                  </a:lnTo>
                  <a:lnTo>
                    <a:pt x="6308" y="3885"/>
                  </a:lnTo>
                  <a:cubicBezTo>
                    <a:pt x="6308" y="2538"/>
                    <a:pt x="5214" y="1450"/>
                    <a:pt x="3879" y="1450"/>
                  </a:cubicBezTo>
                  <a:cubicBezTo>
                    <a:pt x="2532" y="1450"/>
                    <a:pt x="1445" y="2544"/>
                    <a:pt x="1445" y="3885"/>
                  </a:cubicBezTo>
                  <a:lnTo>
                    <a:pt x="1445" y="5732"/>
                  </a:lnTo>
                  <a:lnTo>
                    <a:pt x="0" y="5732"/>
                  </a:lnTo>
                  <a:lnTo>
                    <a:pt x="0" y="3885"/>
                  </a:lnTo>
                  <a:cubicBezTo>
                    <a:pt x="0" y="1738"/>
                    <a:pt x="1738" y="0"/>
                    <a:pt x="3885" y="0"/>
                  </a:cubicBezTo>
                  <a:cubicBezTo>
                    <a:pt x="6026" y="0"/>
                    <a:pt x="7769" y="1738"/>
                    <a:pt x="7769" y="3885"/>
                  </a:cubicBezTo>
                  <a:lnTo>
                    <a:pt x="7769" y="57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62"/>
            <p:cNvSpPr/>
            <p:nvPr/>
          </p:nvSpPr>
          <p:spPr>
            <a:xfrm>
              <a:off x="6954923" y="2836450"/>
              <a:ext cx="311642" cy="265393"/>
            </a:xfrm>
            <a:custGeom>
              <a:avLst/>
              <a:gdLst/>
              <a:ahLst/>
              <a:cxnLst/>
              <a:rect l="l" t="t" r="r" b="b"/>
              <a:pathLst>
                <a:path w="6009" h="5117" extrusionOk="0">
                  <a:moveTo>
                    <a:pt x="2694" y="5117"/>
                  </a:moveTo>
                  <a:lnTo>
                    <a:pt x="1" y="2637"/>
                  </a:lnTo>
                  <a:lnTo>
                    <a:pt x="1123" y="1422"/>
                  </a:lnTo>
                  <a:lnTo>
                    <a:pt x="2521" y="2706"/>
                  </a:lnTo>
                  <a:lnTo>
                    <a:pt x="4720" y="1"/>
                  </a:lnTo>
                  <a:lnTo>
                    <a:pt x="6009" y="105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62"/>
            <p:cNvSpPr/>
            <p:nvPr/>
          </p:nvSpPr>
          <p:spPr>
            <a:xfrm>
              <a:off x="7402340" y="2515314"/>
              <a:ext cx="493679" cy="493755"/>
            </a:xfrm>
            <a:custGeom>
              <a:avLst/>
              <a:gdLst/>
              <a:ahLst/>
              <a:cxnLst/>
              <a:rect l="l" t="t" r="r" b="b"/>
              <a:pathLst>
                <a:path w="9519" h="9520" extrusionOk="0">
                  <a:moveTo>
                    <a:pt x="9432" y="7689"/>
                  </a:moveTo>
                  <a:lnTo>
                    <a:pt x="7689" y="9433"/>
                  </a:lnTo>
                  <a:cubicBezTo>
                    <a:pt x="7602" y="9519"/>
                    <a:pt x="7458" y="9519"/>
                    <a:pt x="7366" y="9433"/>
                  </a:cubicBezTo>
                  <a:lnTo>
                    <a:pt x="4265" y="6331"/>
                  </a:lnTo>
                  <a:lnTo>
                    <a:pt x="3027" y="7994"/>
                  </a:lnTo>
                  <a:cubicBezTo>
                    <a:pt x="2981" y="8057"/>
                    <a:pt x="2895" y="8092"/>
                    <a:pt x="2814" y="8080"/>
                  </a:cubicBezTo>
                  <a:cubicBezTo>
                    <a:pt x="2728" y="8063"/>
                    <a:pt x="2665" y="8006"/>
                    <a:pt x="2636" y="7931"/>
                  </a:cubicBezTo>
                  <a:lnTo>
                    <a:pt x="29" y="317"/>
                  </a:lnTo>
                  <a:cubicBezTo>
                    <a:pt x="0" y="237"/>
                    <a:pt x="23" y="144"/>
                    <a:pt x="87" y="81"/>
                  </a:cubicBezTo>
                  <a:cubicBezTo>
                    <a:pt x="150" y="18"/>
                    <a:pt x="236" y="1"/>
                    <a:pt x="322" y="24"/>
                  </a:cubicBezTo>
                  <a:lnTo>
                    <a:pt x="7936" y="2636"/>
                  </a:lnTo>
                  <a:cubicBezTo>
                    <a:pt x="8017" y="2665"/>
                    <a:pt x="8074" y="2728"/>
                    <a:pt x="8086" y="2815"/>
                  </a:cubicBezTo>
                  <a:cubicBezTo>
                    <a:pt x="8103" y="2901"/>
                    <a:pt x="8063" y="2982"/>
                    <a:pt x="7999" y="3028"/>
                  </a:cubicBezTo>
                  <a:lnTo>
                    <a:pt x="6336" y="4265"/>
                  </a:lnTo>
                  <a:lnTo>
                    <a:pt x="9438" y="7367"/>
                  </a:lnTo>
                  <a:cubicBezTo>
                    <a:pt x="9519" y="7459"/>
                    <a:pt x="9519" y="7603"/>
                    <a:pt x="9432" y="7689"/>
                  </a:cubicBezTo>
                  <a:close/>
                  <a:moveTo>
                    <a:pt x="7533" y="8949"/>
                  </a:moveTo>
                  <a:lnTo>
                    <a:pt x="8949" y="7534"/>
                  </a:lnTo>
                  <a:lnTo>
                    <a:pt x="5818" y="4403"/>
                  </a:lnTo>
                  <a:cubicBezTo>
                    <a:pt x="5778" y="4357"/>
                    <a:pt x="5749" y="4294"/>
                    <a:pt x="5755" y="4225"/>
                  </a:cubicBezTo>
                  <a:cubicBezTo>
                    <a:pt x="5761" y="4161"/>
                    <a:pt x="5790" y="4092"/>
                    <a:pt x="5847" y="4058"/>
                  </a:cubicBezTo>
                  <a:lnTo>
                    <a:pt x="7372" y="2918"/>
                  </a:lnTo>
                  <a:lnTo>
                    <a:pt x="604" y="605"/>
                  </a:lnTo>
                  <a:lnTo>
                    <a:pt x="2918" y="7373"/>
                  </a:lnTo>
                  <a:lnTo>
                    <a:pt x="4057" y="5848"/>
                  </a:lnTo>
                  <a:cubicBezTo>
                    <a:pt x="4092" y="5796"/>
                    <a:pt x="4161" y="5761"/>
                    <a:pt x="4224" y="5755"/>
                  </a:cubicBezTo>
                  <a:cubicBezTo>
                    <a:pt x="4288" y="5750"/>
                    <a:pt x="4351" y="5778"/>
                    <a:pt x="4403" y="58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5" name="Google Shape;1255;p62"/>
          <p:cNvSpPr/>
          <p:nvPr/>
        </p:nvSpPr>
        <p:spPr>
          <a:xfrm>
            <a:off x="4736075" y="2955050"/>
            <a:ext cx="493800" cy="49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6" name="Google Shape;1256;p62"/>
          <p:cNvSpPr/>
          <p:nvPr/>
        </p:nvSpPr>
        <p:spPr>
          <a:xfrm>
            <a:off x="3551325" y="2955050"/>
            <a:ext cx="493800" cy="49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7" name="Google Shape;1257;p62"/>
          <p:cNvSpPr/>
          <p:nvPr/>
        </p:nvSpPr>
        <p:spPr>
          <a:xfrm>
            <a:off x="4143700" y="2955050"/>
            <a:ext cx="493800" cy="49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58" name="Google Shape;1258;p62"/>
          <p:cNvGrpSpPr/>
          <p:nvPr/>
        </p:nvGrpSpPr>
        <p:grpSpPr>
          <a:xfrm>
            <a:off x="3607636" y="3008125"/>
            <a:ext cx="387681" cy="387661"/>
            <a:chOff x="266768" y="1721375"/>
            <a:chExt cx="397907" cy="397887"/>
          </a:xfrm>
        </p:grpSpPr>
        <p:sp>
          <p:nvSpPr>
            <p:cNvPr id="1259" name="Google Shape;1259;p62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62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1" name="Google Shape;1261;p62"/>
          <p:cNvGrpSpPr/>
          <p:nvPr/>
        </p:nvGrpSpPr>
        <p:grpSpPr>
          <a:xfrm>
            <a:off x="4789145" y="3008125"/>
            <a:ext cx="387661" cy="387661"/>
            <a:chOff x="1379798" y="1723250"/>
            <a:chExt cx="397887" cy="397887"/>
          </a:xfrm>
        </p:grpSpPr>
        <p:sp>
          <p:nvSpPr>
            <p:cNvPr id="1262" name="Google Shape;1262;p62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62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62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62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6" name="Google Shape;1266;p62"/>
          <p:cNvGrpSpPr/>
          <p:nvPr/>
        </p:nvGrpSpPr>
        <p:grpSpPr>
          <a:xfrm>
            <a:off x="4196780" y="3008125"/>
            <a:ext cx="387641" cy="387661"/>
            <a:chOff x="864491" y="1723250"/>
            <a:chExt cx="397866" cy="397887"/>
          </a:xfrm>
        </p:grpSpPr>
        <p:sp>
          <p:nvSpPr>
            <p:cNvPr id="1267" name="Google Shape;1267;p62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62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62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70" name="Google Shape;1270;p62"/>
          <p:cNvCxnSpPr>
            <a:endCxn id="1231" idx="3"/>
          </p:cNvCxnSpPr>
          <p:nvPr/>
        </p:nvCxnSpPr>
        <p:spPr>
          <a:xfrm rot="5400000">
            <a:off x="4087625" y="873130"/>
            <a:ext cx="2655000" cy="1452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1" name="Google Shape;1271;p62"/>
          <p:cNvCxnSpPr/>
          <p:nvPr/>
        </p:nvCxnSpPr>
        <p:spPr>
          <a:xfrm rot="5400000">
            <a:off x="4240025" y="1101730"/>
            <a:ext cx="2655000" cy="1452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E1E30A6-770A-D39F-74B6-31CB4172D212}"/>
              </a:ext>
            </a:extLst>
          </p:cNvPr>
          <p:cNvSpPr txBox="1"/>
          <p:nvPr/>
        </p:nvSpPr>
        <p:spPr>
          <a:xfrm>
            <a:off x="968644" y="3743390"/>
            <a:ext cx="4472729" cy="929349"/>
          </a:xfrm>
          <a:prstGeom prst="rect">
            <a:avLst/>
          </a:prstGeom>
          <a:solidFill>
            <a:srgbClr val="F3F7F8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16608-FD5C-2FF9-DB8C-F402ABE579D2}"/>
              </a:ext>
            </a:extLst>
          </p:cNvPr>
          <p:cNvSpPr txBox="1"/>
          <p:nvPr/>
        </p:nvSpPr>
        <p:spPr>
          <a:xfrm>
            <a:off x="860578" y="2891578"/>
            <a:ext cx="4472729" cy="929349"/>
          </a:xfrm>
          <a:prstGeom prst="rect">
            <a:avLst/>
          </a:prstGeom>
          <a:solidFill>
            <a:srgbClr val="F3F7F8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356</Words>
  <Application>Microsoft Office PowerPoint</Application>
  <PresentationFormat>On-screen Show (16:9)</PresentationFormat>
  <Paragraphs>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Sora</vt:lpstr>
      <vt:lpstr>Lato</vt:lpstr>
      <vt:lpstr>Arial</vt:lpstr>
      <vt:lpstr>AI Essentials Workshop by Slidesgo</vt:lpstr>
      <vt:lpstr>Credit Card Churn Prediction</vt:lpstr>
      <vt:lpstr>Table of contents</vt:lpstr>
      <vt:lpstr>Steps to apply AI in schools</vt:lpstr>
      <vt:lpstr>Business Problem</vt:lpstr>
      <vt:lpstr>—axis-intelligence.com</vt:lpstr>
      <vt:lpstr>Understanding the Data  &amp; EDA</vt:lpstr>
      <vt:lpstr>Data Exploration &amp; EDA</vt:lpstr>
      <vt:lpstr>Trends &amp; Insights</vt:lpstr>
      <vt:lpstr>Pre-processing</vt:lpstr>
      <vt:lpstr>Pre-processing</vt:lpstr>
      <vt:lpstr> Modelling &amp; Evaluation</vt:lpstr>
      <vt:lpstr>Feature Importance</vt:lpstr>
      <vt:lpstr>Model Evaluation</vt:lpstr>
      <vt:lpstr>Deploymet &amp; Future Use</vt:lpstr>
      <vt:lpstr>Resources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Mekawy</dc:creator>
  <cp:lastModifiedBy>Mohamed Mekawy</cp:lastModifiedBy>
  <cp:revision>64</cp:revision>
  <dcterms:modified xsi:type="dcterms:W3CDTF">2026-08-25T09:14:51Z</dcterms:modified>
</cp:coreProperties>
</file>